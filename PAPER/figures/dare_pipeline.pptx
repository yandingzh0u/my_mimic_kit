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34A1408-383D-4F5C-9735-C8465FD38BD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Sources: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- User-provided PowerPoint figure and extracted anchor calibration panel.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User-provided generated mockup for layout reference.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600" y="368208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17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17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600" y="3682080"/>
            <a:ext cx="53539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84600" y="567000"/>
            <a:ext cx="1599840" cy="1599840"/>
          </a:xfrm>
          <a:prstGeom prst="roundRect">
            <a:avLst>
              <a:gd name="adj" fmla="val 6857"/>
            </a:avLst>
          </a:prstGeom>
          <a:solidFill>
            <a:srgbClr val="fff2e6"/>
          </a:solidFill>
          <a:ln w="15875">
            <a:solidFill>
              <a:srgbClr val="f0781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157680" y="685800"/>
            <a:ext cx="14536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80" spc="-1" strike="noStrike">
                <a:solidFill>
                  <a:srgbClr val="c45a0a"/>
                </a:solidFill>
                <a:latin typeface="Georgia"/>
                <a:ea typeface="Georgia"/>
              </a:rPr>
              <a:t>Reference motion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230760" y="960120"/>
            <a:ext cx="130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Cambria Math"/>
                <a:ea typeface="Cambria Math"/>
              </a:rPr>
              <a:t>reference state  ŝₜ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47" name="Image 0" descr="/mnt/data/ppt_unzip/ppt/media/image1.png"/>
          <p:cNvPicPr/>
          <p:nvPr/>
        </p:nvPicPr>
        <p:blipFill>
          <a:blip r:embed="rId1"/>
          <a:stretch/>
        </p:blipFill>
        <p:spPr>
          <a:xfrm>
            <a:off x="543600" y="1174680"/>
            <a:ext cx="617400" cy="938880"/>
          </a:xfrm>
          <a:prstGeom prst="rect">
            <a:avLst/>
          </a:prstGeom>
          <a:ln w="0">
            <a:noFill/>
          </a:ln>
        </p:spPr>
      </p:pic>
      <p:sp>
        <p:nvSpPr>
          <p:cNvPr id="48" name="Shape 3"/>
          <p:cNvSpPr/>
          <p:nvPr/>
        </p:nvSpPr>
        <p:spPr>
          <a:xfrm>
            <a:off x="84600" y="2853000"/>
            <a:ext cx="1599840" cy="1599840"/>
          </a:xfrm>
          <a:prstGeom prst="roundRect">
            <a:avLst>
              <a:gd name="adj" fmla="val 6857"/>
            </a:avLst>
          </a:prstGeom>
          <a:solidFill>
            <a:srgbClr val="eaf6ff"/>
          </a:solidFill>
          <a:ln w="15875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157680" y="2980800"/>
            <a:ext cx="14536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0070c0"/>
                </a:solidFill>
                <a:latin typeface="Georgia"/>
                <a:ea typeface="Georgia"/>
              </a:rPr>
              <a:t>Policy + simulator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230760" y="3255120"/>
            <a:ext cx="130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Cambria Math"/>
                <a:ea typeface="Cambria Math"/>
              </a:rPr>
              <a:t>current state  sₜ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51" name="Image 1" descr="/mnt/data/ppt_unzip/ppt/media/image2.png"/>
          <p:cNvPicPr/>
          <p:nvPr/>
        </p:nvPicPr>
        <p:blipFill>
          <a:blip r:embed="rId2"/>
          <a:stretch/>
        </p:blipFill>
        <p:spPr>
          <a:xfrm>
            <a:off x="576000" y="3489480"/>
            <a:ext cx="573120" cy="870840"/>
          </a:xfrm>
          <a:prstGeom prst="rect">
            <a:avLst/>
          </a:prstGeom>
          <a:ln w="0">
            <a:noFill/>
          </a:ln>
        </p:spPr>
      </p:pic>
      <p:sp>
        <p:nvSpPr>
          <p:cNvPr id="52" name="Shape 6"/>
          <p:cNvSpPr/>
          <p:nvPr/>
        </p:nvSpPr>
        <p:spPr>
          <a:xfrm>
            <a:off x="2004840" y="1938600"/>
            <a:ext cx="1325520" cy="109692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3970">
            <a:solidFill>
              <a:srgbClr val="6f90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7"/>
          <p:cNvSpPr/>
          <p:nvPr/>
        </p:nvSpPr>
        <p:spPr>
          <a:xfrm>
            <a:off x="2123640" y="2139840"/>
            <a:ext cx="1087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20" spc="-1" strike="noStrike">
                <a:solidFill>
                  <a:srgbClr val="123a6e"/>
                </a:solidFill>
                <a:latin typeface="Georgia"/>
                <a:ea typeface="Georgia"/>
              </a:rPr>
              <a:t>Differential</a:t>
            </a:r>
            <a:endParaRPr b="0" lang="en-US" sz="12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20" spc="-1" strike="noStrike">
                <a:solidFill>
                  <a:srgbClr val="123a6e"/>
                </a:solidFill>
                <a:latin typeface="Georgia"/>
                <a:ea typeface="Georgia"/>
              </a:rPr>
              <a:t>construction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2123640" y="2651760"/>
            <a:ext cx="1087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Cambria Math"/>
                <a:ea typeface="Cambria Math"/>
              </a:rPr>
              <a:t>Δₜ = φ(ŝₜ) − φ(sₜ)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1684800" y="1188720"/>
            <a:ext cx="493560" cy="360"/>
          </a:xfrm>
          <a:prstGeom prst="line">
            <a:avLst/>
          </a:prstGeom>
          <a:ln w="20320">
            <a:solidFill>
              <a:srgbClr val="f0781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0"/>
          <p:cNvSpPr/>
          <p:nvPr/>
        </p:nvSpPr>
        <p:spPr>
          <a:xfrm>
            <a:off x="2166480" y="1191240"/>
            <a:ext cx="7200" cy="746640"/>
          </a:xfrm>
          <a:prstGeom prst="line">
            <a:avLst/>
          </a:prstGeom>
          <a:ln w="20320">
            <a:solidFill>
              <a:srgbClr val="f0781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1"/>
          <p:cNvSpPr/>
          <p:nvPr/>
        </p:nvSpPr>
        <p:spPr>
          <a:xfrm>
            <a:off x="1684800" y="3547800"/>
            <a:ext cx="457200" cy="360"/>
          </a:xfrm>
          <a:prstGeom prst="line">
            <a:avLst/>
          </a:prstGeom>
          <a:ln w="2159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12"/>
          <p:cNvSpPr/>
          <p:nvPr/>
        </p:nvSpPr>
        <p:spPr>
          <a:xfrm flipV="1">
            <a:off x="2155320" y="3038760"/>
            <a:ext cx="1080" cy="522000"/>
          </a:xfrm>
          <a:prstGeom prst="line">
            <a:avLst/>
          </a:prstGeom>
          <a:ln w="21590">
            <a:solidFill>
              <a:srgbClr val="0070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13"/>
          <p:cNvSpPr/>
          <p:nvPr/>
        </p:nvSpPr>
        <p:spPr>
          <a:xfrm>
            <a:off x="3467880" y="1627560"/>
            <a:ext cx="1188360" cy="676440"/>
          </a:xfrm>
          <a:prstGeom prst="roundRect">
            <a:avLst>
              <a:gd name="adj" fmla="val 16216"/>
            </a:avLst>
          </a:prstGeom>
          <a:solidFill>
            <a:srgbClr val="fff0f0"/>
          </a:solidFill>
          <a:ln w="14605">
            <a:solidFill>
              <a:srgbClr val="e533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4"/>
          <p:cNvSpPr/>
          <p:nvPr/>
        </p:nvSpPr>
        <p:spPr>
          <a:xfrm>
            <a:off x="3513600" y="173736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e5332a"/>
                </a:solidFill>
                <a:latin typeface="Georgia"/>
                <a:ea typeface="Georgia"/>
              </a:rPr>
              <a:t>Policy residual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3605040" y="1993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mbria Math"/>
                <a:ea typeface="Cambria Math"/>
              </a:rPr>
              <a:t>Δ⁻ = Δₜ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3467880" y="2907720"/>
            <a:ext cx="1188360" cy="676440"/>
          </a:xfrm>
          <a:prstGeom prst="roundRect">
            <a:avLst>
              <a:gd name="adj" fmla="val 16216"/>
            </a:avLst>
          </a:prstGeom>
          <a:solidFill>
            <a:srgbClr val="eaf7ea"/>
          </a:solidFill>
          <a:ln w="14605">
            <a:solidFill>
              <a:srgbClr val="169b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7"/>
          <p:cNvSpPr/>
          <p:nvPr/>
        </p:nvSpPr>
        <p:spPr>
          <a:xfrm>
            <a:off x="3513600" y="30175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169b4a"/>
                </a:solidFill>
                <a:latin typeface="Georgia"/>
                <a:ea typeface="Georgia"/>
              </a:rPr>
              <a:t>Positive anchor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3605040" y="327348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mbria Math"/>
                <a:ea typeface="Cambria Math"/>
              </a:rPr>
              <a:t>Δ⁺ = 0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5" name="Shape 19"/>
          <p:cNvSpPr/>
          <p:nvPr/>
        </p:nvSpPr>
        <p:spPr>
          <a:xfrm flipV="1">
            <a:off x="3327840" y="1992240"/>
            <a:ext cx="140040" cy="481680"/>
          </a:xfrm>
          <a:prstGeom prst="line">
            <a:avLst/>
          </a:prstGeom>
          <a:ln w="19050">
            <a:solidFill>
              <a:srgbClr val="e5332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21"/>
          <p:cNvSpPr/>
          <p:nvPr/>
        </p:nvSpPr>
        <p:spPr>
          <a:xfrm>
            <a:off x="4896720" y="1572840"/>
            <a:ext cx="1306440" cy="197460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5240">
            <a:solidFill>
              <a:srgbClr val="6f90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2"/>
          <p:cNvSpPr/>
          <p:nvPr/>
        </p:nvSpPr>
        <p:spPr>
          <a:xfrm>
            <a:off x="4946760" y="1792080"/>
            <a:ext cx="119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8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23a6e"/>
                </a:solidFill>
                <a:latin typeface="Georgia"/>
                <a:ea typeface="Georgia"/>
              </a:rPr>
              <a:t>Convex-Potential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23a6e"/>
                </a:solidFill>
                <a:latin typeface="Georgia"/>
                <a:ea typeface="Georgia"/>
              </a:rPr>
              <a:t>Discriminator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4946760" y="31820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5c6d7d"/>
                </a:solidFill>
                <a:latin typeface="Georgia"/>
                <a:ea typeface="Georgia"/>
              </a:rPr>
              <a:t>spectral normalization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0" name="Shape 24"/>
          <p:cNvSpPr/>
          <p:nvPr/>
        </p:nvSpPr>
        <p:spPr>
          <a:xfrm>
            <a:off x="4656600" y="1965960"/>
            <a:ext cx="228600" cy="360"/>
          </a:xfrm>
          <a:prstGeom prst="line">
            <a:avLst/>
          </a:prstGeom>
          <a:ln w="19050">
            <a:solidFill>
              <a:srgbClr val="e5332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25"/>
          <p:cNvSpPr/>
          <p:nvPr/>
        </p:nvSpPr>
        <p:spPr>
          <a:xfrm>
            <a:off x="4656600" y="3246120"/>
            <a:ext cx="228600" cy="360"/>
          </a:xfrm>
          <a:prstGeom prst="line">
            <a:avLst/>
          </a:prstGeom>
          <a:ln w="19050">
            <a:solidFill>
              <a:srgbClr val="169b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26"/>
          <p:cNvSpPr/>
          <p:nvPr/>
        </p:nvSpPr>
        <p:spPr>
          <a:xfrm>
            <a:off x="6199560" y="2468880"/>
            <a:ext cx="484560" cy="360"/>
          </a:xfrm>
          <a:prstGeom prst="line">
            <a:avLst/>
          </a:prstGeom>
          <a:ln w="22860">
            <a:solidFill>
              <a:srgbClr val="0070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mc:AlternateContent>
        <mc:Choice xmlns:a14="http://schemas.microsoft.com/office/drawing/2010/main" Requires="a14">
          <p:sp>
            <p:nvSpPr>
              <p:cNvPr id="73" name="Text 27"/>
              <p:cNvSpPr txBox="1"/>
              <p:nvPr/>
            </p:nvSpPr>
            <p:spPr>
              <a:xfrm>
                <a:off x="6194520" y="2193120"/>
                <a:ext cx="484920" cy="23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𝑓</m:t>
                        </m:r>
                      </m:e>
                      <m:sub>
                        <m:r>
                          <m:t xml:space="preserve">𝜃</m:t>
                        </m:r>
                      </m:sub>
                    </m:sSub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∆</m:t>
                            </m:r>
                          </m:e>
                          <m:sub>
                            <m:r>
                              <m:t xml:space="preserve">𝑡</m:t>
                            </m:r>
                          </m:sub>
                        </m:sSub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74" name="Shape 28"/>
          <p:cNvSpPr/>
          <p:nvPr/>
        </p:nvSpPr>
        <p:spPr>
          <a:xfrm flipV="1">
            <a:off x="9918720" y="2469240"/>
            <a:ext cx="497160" cy="8280"/>
          </a:xfrm>
          <a:prstGeom prst="line">
            <a:avLst/>
          </a:prstGeom>
          <a:ln w="22860">
            <a:solidFill>
              <a:srgbClr val="0070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mc:AlternateContent>
        <mc:Choice xmlns:a14="http://schemas.microsoft.com/office/drawing/2010/main" Requires="a14">
          <p:sp>
            <p:nvSpPr>
              <p:cNvPr id="75" name="Text 29"/>
              <p:cNvSpPr txBox="1"/>
              <p:nvPr/>
            </p:nvSpPr>
            <p:spPr>
              <a:xfrm>
                <a:off x="9901080" y="2244600"/>
                <a:ext cx="493560" cy="204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𝑧</m:t>
                        </m:r>
                      </m:e>
                      <m:sub>
                        <m:r>
                          <m:t xml:space="preserve">𝜃</m:t>
                        </m:r>
                      </m:sub>
                    </m:sSub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∆</m:t>
                            </m:r>
                          </m:e>
                          <m:sub>
                            <m:r>
                              <m:t xml:space="preserve">𝑡</m:t>
                            </m:r>
                          </m:sub>
                        </m:sSub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76" name="Shape 30"/>
          <p:cNvSpPr/>
          <p:nvPr/>
        </p:nvSpPr>
        <p:spPr>
          <a:xfrm>
            <a:off x="10416600" y="2194560"/>
            <a:ext cx="1738800" cy="456120"/>
          </a:xfrm>
          <a:prstGeom prst="roundRect">
            <a:avLst>
              <a:gd name="adj" fmla="val 12632"/>
            </a:avLst>
          </a:prstGeom>
          <a:solidFill>
            <a:srgbClr val="f7fbff"/>
          </a:solidFill>
          <a:ln w="1524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37"/>
          <p:cNvSpPr/>
          <p:nvPr/>
        </p:nvSpPr>
        <p:spPr>
          <a:xfrm>
            <a:off x="11157840" y="2651760"/>
            <a:ext cx="0" cy="2149920"/>
          </a:xfrm>
          <a:prstGeom prst="line">
            <a:avLst/>
          </a:prstGeom>
          <a:ln w="2667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38"/>
          <p:cNvSpPr/>
          <p:nvPr/>
        </p:nvSpPr>
        <p:spPr>
          <a:xfrm>
            <a:off x="884520" y="4801320"/>
            <a:ext cx="10273320" cy="360"/>
          </a:xfrm>
          <a:prstGeom prst="line">
            <a:avLst/>
          </a:prstGeom>
          <a:ln w="2667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39"/>
          <p:cNvSpPr/>
          <p:nvPr/>
        </p:nvSpPr>
        <p:spPr>
          <a:xfrm flipV="1">
            <a:off x="884520" y="4452840"/>
            <a:ext cx="360" cy="348840"/>
          </a:xfrm>
          <a:prstGeom prst="line">
            <a:avLst/>
          </a:prstGeom>
          <a:ln w="26670">
            <a:solidFill>
              <a:srgbClr val="0070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40"/>
          <p:cNvSpPr/>
          <p:nvPr/>
        </p:nvSpPr>
        <p:spPr>
          <a:xfrm>
            <a:off x="4930920" y="460008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8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23a6e"/>
                </a:solidFill>
                <a:latin typeface="Georgia"/>
                <a:ea typeface="Georgia"/>
              </a:rPr>
              <a:t>update policy  π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81" name="图片 46" descr=""/>
          <p:cNvPicPr/>
          <p:nvPr/>
        </p:nvPicPr>
        <p:blipFill>
          <a:blip r:embed="rId3"/>
          <a:stretch/>
        </p:blipFill>
        <p:spPr>
          <a:xfrm>
            <a:off x="5174640" y="2382480"/>
            <a:ext cx="741240" cy="634680"/>
          </a:xfrm>
          <a:prstGeom prst="rect">
            <a:avLst/>
          </a:prstGeom>
          <a:ln w="0">
            <a:noFill/>
          </a:ln>
        </p:spPr>
      </p:pic>
      <p:sp>
        <p:nvSpPr>
          <p:cNvPr id="82" name="Shape 61"/>
          <p:cNvSpPr/>
          <p:nvPr/>
        </p:nvSpPr>
        <p:spPr>
          <a:xfrm>
            <a:off x="6678360" y="851040"/>
            <a:ext cx="3228120" cy="3492000"/>
          </a:xfrm>
          <a:prstGeom prst="roundRect">
            <a:avLst>
              <a:gd name="adj" fmla="val 2116"/>
            </a:avLst>
          </a:prstGeom>
          <a:noFill/>
          <a:ln w="12700">
            <a:solidFill>
              <a:srgbClr val="74b7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62"/>
          <p:cNvSpPr/>
          <p:nvPr/>
        </p:nvSpPr>
        <p:spPr>
          <a:xfrm>
            <a:off x="6678360" y="851040"/>
            <a:ext cx="3216600" cy="410400"/>
          </a:xfrm>
          <a:prstGeom prst="rect">
            <a:avLst/>
          </a:prstGeom>
          <a:solidFill>
            <a:srgbClr val="edf7ff"/>
          </a:solidFill>
          <a:ln w="12700">
            <a:solidFill>
              <a:srgbClr val="edf7ff">
                <a:alpha val="0"/>
              </a:srgbClr>
            </a:solidFill>
            <a:round/>
          </a:ln>
          <a:effectLst>
            <a:softEdge rad="38160"/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Text 63"/>
          <p:cNvSpPr/>
          <p:nvPr/>
        </p:nvSpPr>
        <p:spPr>
          <a:xfrm>
            <a:off x="6959880" y="896760"/>
            <a:ext cx="2599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2306f"/>
                </a:solidFill>
                <a:latin typeface="Times New Roman"/>
                <a:ea typeface="Arial"/>
              </a:rPr>
              <a:t>Anchor calibration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85" name="Shape 209"/>
          <p:cNvSpPr/>
          <p:nvPr/>
        </p:nvSpPr>
        <p:spPr>
          <a:xfrm>
            <a:off x="8885880" y="3500640"/>
            <a:ext cx="938160" cy="7675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0160">
            <a:solidFill>
              <a:srgbClr val="afc7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210"/>
          <p:cNvSpPr/>
          <p:nvPr/>
        </p:nvSpPr>
        <p:spPr>
          <a:xfrm>
            <a:off x="8944200" y="3599640"/>
            <a:ext cx="154800" cy="154800"/>
          </a:xfrm>
          <a:prstGeom prst="rect">
            <a:avLst/>
          </a:prstGeom>
          <a:solidFill>
            <a:srgbClr val="dff6d9"/>
          </a:solidFill>
          <a:ln w="12700">
            <a:solidFill>
              <a:srgbClr val="dff6d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11"/>
          <p:cNvSpPr/>
          <p:nvPr/>
        </p:nvSpPr>
        <p:spPr>
          <a:xfrm>
            <a:off x="9163440" y="3572640"/>
            <a:ext cx="6393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9" spc="-1" strike="noStrike">
                <a:solidFill>
                  <a:srgbClr val="12306f"/>
                </a:solidFill>
                <a:latin typeface="Times New Roman"/>
                <a:ea typeface="Arial"/>
              </a:rPr>
              <a:t>response band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88" name="Shape 212"/>
          <p:cNvSpPr/>
          <p:nvPr/>
        </p:nvSpPr>
        <p:spPr>
          <a:xfrm>
            <a:off x="8966880" y="3869280"/>
            <a:ext cx="99720" cy="99720"/>
          </a:xfrm>
          <a:prstGeom prst="ellipse">
            <a:avLst/>
          </a:prstGeom>
          <a:solidFill>
            <a:srgbClr val="ff1717"/>
          </a:solidFill>
          <a:ln w="444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13"/>
          <p:cNvSpPr/>
          <p:nvPr/>
        </p:nvSpPr>
        <p:spPr>
          <a:xfrm>
            <a:off x="9163440" y="3819600"/>
            <a:ext cx="6393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ctr">
            <a:normAutofit fontScale="92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9" spc="-1" strike="noStrike">
                <a:solidFill>
                  <a:srgbClr val="12306f"/>
                </a:solidFill>
                <a:latin typeface="Times New Roman"/>
                <a:ea typeface="Arial"/>
              </a:rPr>
              <a:t>policy residual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90" name="Shape 214"/>
          <p:cNvSpPr/>
          <p:nvPr/>
        </p:nvSpPr>
        <p:spPr>
          <a:xfrm>
            <a:off x="8966880" y="4097880"/>
            <a:ext cx="99720" cy="99720"/>
          </a:xfrm>
          <a:prstGeom prst="ellipse">
            <a:avLst/>
          </a:prstGeom>
          <a:solidFill>
            <a:srgbClr val="0b73e0"/>
          </a:solidFill>
          <a:ln w="444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215"/>
          <p:cNvSpPr/>
          <p:nvPr/>
        </p:nvSpPr>
        <p:spPr>
          <a:xfrm>
            <a:off x="9163440" y="4048200"/>
            <a:ext cx="6393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9" spc="-1" strike="noStrike">
                <a:solidFill>
                  <a:srgbClr val="12306f"/>
                </a:solidFill>
                <a:latin typeface="Times New Roman"/>
                <a:ea typeface="Arial"/>
              </a:rPr>
              <a:t>anchor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92" name="TextBox 227"/>
          <p:cNvSpPr/>
          <p:nvPr/>
        </p:nvSpPr>
        <p:spPr>
          <a:xfrm>
            <a:off x="6904440" y="1379520"/>
            <a:ext cx="995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7365d"/>
                </a:solidFill>
                <a:latin typeface="Times New Roman"/>
              </a:rPr>
              <a:t>gap too large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228"/>
          <p:cNvSpPr/>
          <p:nvPr/>
        </p:nvSpPr>
        <p:spPr>
          <a:xfrm>
            <a:off x="8494920" y="1379520"/>
            <a:ext cx="10155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7365d"/>
                </a:solidFill>
                <a:latin typeface="Times New Roman"/>
              </a:rPr>
              <a:t>gap too small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4" name="Rectangle 229"/>
          <p:cNvSpPr/>
          <p:nvPr/>
        </p:nvSpPr>
        <p:spPr>
          <a:xfrm>
            <a:off x="7072920" y="1738080"/>
            <a:ext cx="595440" cy="703440"/>
          </a:xfrm>
          <a:prstGeom prst="rect">
            <a:avLst/>
          </a:prstGeom>
          <a:solidFill>
            <a:srgbClr val="dce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Connector 230"/>
          <p:cNvSpPr/>
          <p:nvPr/>
        </p:nvSpPr>
        <p:spPr>
          <a:xfrm>
            <a:off x="6789600" y="2441520"/>
            <a:ext cx="1207080" cy="36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" name="Connector 231"/>
          <p:cNvSpPr/>
          <p:nvPr/>
        </p:nvSpPr>
        <p:spPr>
          <a:xfrm flipV="1">
            <a:off x="6789600" y="1714680"/>
            <a:ext cx="360" cy="72684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" name="Freeform 68"/>
          <p:cNvSpPr/>
          <p:nvPr/>
        </p:nvSpPr>
        <p:spPr>
          <a:xfrm>
            <a:off x="6790320" y="1801440"/>
            <a:ext cx="1160640" cy="624960"/>
          </a:xfrm>
          <a:custGeom>
            <a:avLst/>
            <a:gdLst/>
            <a:ahLst/>
            <a:rect l="l" t="t" r="r" b="b"/>
            <a:pathLst>
              <a:path w="1161287" h="625649">
                <a:moveTo>
                  <a:pt x="0" y="625649"/>
                </a:moveTo>
                <a:lnTo>
                  <a:pt x="9677" y="624978"/>
                </a:lnTo>
                <a:lnTo>
                  <a:pt x="19354" y="624278"/>
                </a:lnTo>
                <a:lnTo>
                  <a:pt x="29032" y="623549"/>
                </a:lnTo>
                <a:lnTo>
                  <a:pt x="38709" y="622788"/>
                </a:lnTo>
                <a:lnTo>
                  <a:pt x="48387" y="621995"/>
                </a:lnTo>
                <a:lnTo>
                  <a:pt x="58064" y="621169"/>
                </a:lnTo>
                <a:lnTo>
                  <a:pt x="67741" y="620308"/>
                </a:lnTo>
                <a:lnTo>
                  <a:pt x="77419" y="619410"/>
                </a:lnTo>
                <a:lnTo>
                  <a:pt x="87096" y="618475"/>
                </a:lnTo>
                <a:lnTo>
                  <a:pt x="96773" y="617500"/>
                </a:lnTo>
                <a:lnTo>
                  <a:pt x="106451" y="616486"/>
                </a:lnTo>
                <a:lnTo>
                  <a:pt x="116128" y="615429"/>
                </a:lnTo>
                <a:lnTo>
                  <a:pt x="125806" y="614329"/>
                </a:lnTo>
                <a:lnTo>
                  <a:pt x="135483" y="613184"/>
                </a:lnTo>
                <a:lnTo>
                  <a:pt x="145160" y="611992"/>
                </a:lnTo>
                <a:lnTo>
                  <a:pt x="154838" y="610751"/>
                </a:lnTo>
                <a:lnTo>
                  <a:pt x="164515" y="609461"/>
                </a:lnTo>
                <a:lnTo>
                  <a:pt x="174193" y="608119"/>
                </a:lnTo>
                <a:lnTo>
                  <a:pt x="183870" y="606723"/>
                </a:lnTo>
                <a:lnTo>
                  <a:pt x="193547" y="605272"/>
                </a:lnTo>
                <a:lnTo>
                  <a:pt x="203225" y="603764"/>
                </a:lnTo>
                <a:lnTo>
                  <a:pt x="212902" y="602197"/>
                </a:lnTo>
                <a:lnTo>
                  <a:pt x="222580" y="600569"/>
                </a:lnTo>
                <a:lnTo>
                  <a:pt x="232257" y="598879"/>
                </a:lnTo>
                <a:lnTo>
                  <a:pt x="241934" y="597123"/>
                </a:lnTo>
                <a:lnTo>
                  <a:pt x="251612" y="595301"/>
                </a:lnTo>
                <a:lnTo>
                  <a:pt x="261289" y="593411"/>
                </a:lnTo>
                <a:lnTo>
                  <a:pt x="270967" y="591449"/>
                </a:lnTo>
                <a:lnTo>
                  <a:pt x="280644" y="589415"/>
                </a:lnTo>
                <a:lnTo>
                  <a:pt x="290322" y="587307"/>
                </a:lnTo>
                <a:lnTo>
                  <a:pt x="299999" y="585121"/>
                </a:lnTo>
                <a:lnTo>
                  <a:pt x="309676" y="582857"/>
                </a:lnTo>
                <a:lnTo>
                  <a:pt x="319354" y="580512"/>
                </a:lnTo>
                <a:lnTo>
                  <a:pt x="329031" y="578085"/>
                </a:lnTo>
                <a:lnTo>
                  <a:pt x="338709" y="575572"/>
                </a:lnTo>
                <a:lnTo>
                  <a:pt x="348386" y="572973"/>
                </a:lnTo>
                <a:lnTo>
                  <a:pt x="358063" y="570284"/>
                </a:lnTo>
                <a:lnTo>
                  <a:pt x="367741" y="567506"/>
                </a:lnTo>
                <a:lnTo>
                  <a:pt x="377418" y="564634"/>
                </a:lnTo>
                <a:lnTo>
                  <a:pt x="387096" y="561668"/>
                </a:lnTo>
                <a:lnTo>
                  <a:pt x="396773" y="558605"/>
                </a:lnTo>
                <a:lnTo>
                  <a:pt x="406450" y="555444"/>
                </a:lnTo>
                <a:lnTo>
                  <a:pt x="416128" y="552184"/>
                </a:lnTo>
                <a:lnTo>
                  <a:pt x="425805" y="548821"/>
                </a:lnTo>
                <a:lnTo>
                  <a:pt x="435483" y="545355"/>
                </a:lnTo>
                <a:lnTo>
                  <a:pt x="445160" y="541785"/>
                </a:lnTo>
                <a:lnTo>
                  <a:pt x="454837" y="538108"/>
                </a:lnTo>
                <a:lnTo>
                  <a:pt x="464515" y="534323"/>
                </a:lnTo>
                <a:lnTo>
                  <a:pt x="474192" y="530429"/>
                </a:lnTo>
                <a:lnTo>
                  <a:pt x="483870" y="526424"/>
                </a:lnTo>
                <a:lnTo>
                  <a:pt x="493547" y="522308"/>
                </a:lnTo>
                <a:lnTo>
                  <a:pt x="503224" y="518079"/>
                </a:lnTo>
                <a:lnTo>
                  <a:pt x="512902" y="513737"/>
                </a:lnTo>
                <a:lnTo>
                  <a:pt x="522579" y="509281"/>
                </a:lnTo>
                <a:lnTo>
                  <a:pt x="532257" y="504709"/>
                </a:lnTo>
                <a:lnTo>
                  <a:pt x="541934" y="500021"/>
                </a:lnTo>
                <a:lnTo>
                  <a:pt x="551611" y="495217"/>
                </a:lnTo>
                <a:lnTo>
                  <a:pt x="561289" y="490296"/>
                </a:lnTo>
                <a:lnTo>
                  <a:pt x="570966" y="485258"/>
                </a:lnTo>
                <a:lnTo>
                  <a:pt x="580644" y="480103"/>
                </a:lnTo>
                <a:lnTo>
                  <a:pt x="590321" y="474831"/>
                </a:lnTo>
                <a:lnTo>
                  <a:pt x="599998" y="469441"/>
                </a:lnTo>
                <a:lnTo>
                  <a:pt x="609676" y="463935"/>
                </a:lnTo>
                <a:lnTo>
                  <a:pt x="619353" y="458311"/>
                </a:lnTo>
                <a:lnTo>
                  <a:pt x="629030" y="452571"/>
                </a:lnTo>
                <a:lnTo>
                  <a:pt x="638708" y="446716"/>
                </a:lnTo>
                <a:lnTo>
                  <a:pt x="648385" y="440745"/>
                </a:lnTo>
                <a:lnTo>
                  <a:pt x="658063" y="434660"/>
                </a:lnTo>
                <a:lnTo>
                  <a:pt x="667740" y="428461"/>
                </a:lnTo>
                <a:lnTo>
                  <a:pt x="677417" y="422149"/>
                </a:lnTo>
                <a:lnTo>
                  <a:pt x="687095" y="415726"/>
                </a:lnTo>
                <a:lnTo>
                  <a:pt x="696772" y="409193"/>
                </a:lnTo>
                <a:lnTo>
                  <a:pt x="706450" y="402550"/>
                </a:lnTo>
                <a:lnTo>
                  <a:pt x="716127" y="395800"/>
                </a:lnTo>
                <a:lnTo>
                  <a:pt x="725804" y="388943"/>
                </a:lnTo>
                <a:lnTo>
                  <a:pt x="735482" y="381982"/>
                </a:lnTo>
                <a:lnTo>
                  <a:pt x="745159" y="374917"/>
                </a:lnTo>
                <a:lnTo>
                  <a:pt x="754837" y="367750"/>
                </a:lnTo>
                <a:lnTo>
                  <a:pt x="764514" y="360483"/>
                </a:lnTo>
                <a:lnTo>
                  <a:pt x="774191" y="353118"/>
                </a:lnTo>
                <a:lnTo>
                  <a:pt x="783869" y="345657"/>
                </a:lnTo>
                <a:lnTo>
                  <a:pt x="793546" y="338101"/>
                </a:lnTo>
                <a:lnTo>
                  <a:pt x="803224" y="330453"/>
                </a:lnTo>
                <a:lnTo>
                  <a:pt x="812901" y="322713"/>
                </a:lnTo>
                <a:lnTo>
                  <a:pt x="822579" y="314885"/>
                </a:lnTo>
                <a:lnTo>
                  <a:pt x="832256" y="306970"/>
                </a:lnTo>
                <a:lnTo>
                  <a:pt x="841933" y="298971"/>
                </a:lnTo>
                <a:lnTo>
                  <a:pt x="851611" y="290888"/>
                </a:lnTo>
                <a:lnTo>
                  <a:pt x="861288" y="282725"/>
                </a:lnTo>
                <a:lnTo>
                  <a:pt x="870966" y="274483"/>
                </a:lnTo>
                <a:lnTo>
                  <a:pt x="880643" y="266164"/>
                </a:lnTo>
                <a:lnTo>
                  <a:pt x="890320" y="257770"/>
                </a:lnTo>
                <a:lnTo>
                  <a:pt x="899998" y="249304"/>
                </a:lnTo>
                <a:lnTo>
                  <a:pt x="909675" y="240767"/>
                </a:lnTo>
                <a:lnTo>
                  <a:pt x="919353" y="232162"/>
                </a:lnTo>
                <a:lnTo>
                  <a:pt x="929030" y="223490"/>
                </a:lnTo>
                <a:lnTo>
                  <a:pt x="938707" y="214753"/>
                </a:lnTo>
                <a:lnTo>
                  <a:pt x="948385" y="205953"/>
                </a:lnTo>
                <a:lnTo>
                  <a:pt x="958062" y="197093"/>
                </a:lnTo>
                <a:lnTo>
                  <a:pt x="967740" y="188174"/>
                </a:lnTo>
                <a:lnTo>
                  <a:pt x="977417" y="179197"/>
                </a:lnTo>
                <a:lnTo>
                  <a:pt x="987094" y="170165"/>
                </a:lnTo>
                <a:lnTo>
                  <a:pt x="996772" y="161080"/>
                </a:lnTo>
                <a:lnTo>
                  <a:pt x="1006449" y="151943"/>
                </a:lnTo>
                <a:lnTo>
                  <a:pt x="1016127" y="142755"/>
                </a:lnTo>
                <a:lnTo>
                  <a:pt x="1025804" y="133520"/>
                </a:lnTo>
                <a:lnTo>
                  <a:pt x="1035481" y="124238"/>
                </a:lnTo>
                <a:lnTo>
                  <a:pt x="1045159" y="114911"/>
                </a:lnTo>
                <a:lnTo>
                  <a:pt x="1054836" y="105540"/>
                </a:lnTo>
                <a:lnTo>
                  <a:pt x="1064514" y="96127"/>
                </a:lnTo>
                <a:lnTo>
                  <a:pt x="1074191" y="86674"/>
                </a:lnTo>
                <a:lnTo>
                  <a:pt x="1083868" y="77182"/>
                </a:lnTo>
                <a:lnTo>
                  <a:pt x="1093546" y="67652"/>
                </a:lnTo>
                <a:lnTo>
                  <a:pt x="1103223" y="58086"/>
                </a:lnTo>
                <a:lnTo>
                  <a:pt x="1112900" y="48485"/>
                </a:lnTo>
                <a:lnTo>
                  <a:pt x="1122578" y="38850"/>
                </a:lnTo>
                <a:lnTo>
                  <a:pt x="1132255" y="29183"/>
                </a:lnTo>
                <a:lnTo>
                  <a:pt x="1141933" y="19485"/>
                </a:lnTo>
                <a:lnTo>
                  <a:pt x="1151610" y="9757"/>
                </a:lnTo>
                <a:lnTo>
                  <a:pt x="1161287" y="0"/>
                </a:lnTo>
              </a:path>
            </a:pathLst>
          </a:custGeom>
          <a:noFill/>
          <a:ln w="21590">
            <a:solidFill>
              <a:srgbClr val="167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Oval 232"/>
          <p:cNvSpPr/>
          <p:nvPr/>
        </p:nvSpPr>
        <p:spPr>
          <a:xfrm>
            <a:off x="6886440" y="2370600"/>
            <a:ext cx="86040" cy="86040"/>
          </a:xfrm>
          <a:prstGeom prst="ellipse">
            <a:avLst/>
          </a:prstGeom>
          <a:solidFill>
            <a:srgbClr val="e34a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Oval 233"/>
          <p:cNvSpPr/>
          <p:nvPr/>
        </p:nvSpPr>
        <p:spPr>
          <a:xfrm>
            <a:off x="7768440" y="1895760"/>
            <a:ext cx="86040" cy="86040"/>
          </a:xfrm>
          <a:prstGeom prst="ellipse">
            <a:avLst/>
          </a:prstGeom>
          <a:solidFill>
            <a:srgbClr val="1678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Connector 234"/>
          <p:cNvSpPr/>
          <p:nvPr/>
        </p:nvSpPr>
        <p:spPr>
          <a:xfrm>
            <a:off x="6984360" y="2413440"/>
            <a:ext cx="155520" cy="360"/>
          </a:xfrm>
          <a:prstGeom prst="line">
            <a:avLst/>
          </a:prstGeom>
          <a:ln>
            <a:solidFill>
              <a:srgbClr val="17365d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1" name="Connector 235"/>
          <p:cNvSpPr/>
          <p:nvPr/>
        </p:nvSpPr>
        <p:spPr>
          <a:xfrm flipH="1">
            <a:off x="7601040" y="1938600"/>
            <a:ext cx="155160" cy="360"/>
          </a:xfrm>
          <a:prstGeom prst="line">
            <a:avLst/>
          </a:prstGeom>
          <a:ln>
            <a:solidFill>
              <a:srgbClr val="17365d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2" name="TextBox 236"/>
          <p:cNvSpPr/>
          <p:nvPr/>
        </p:nvSpPr>
        <p:spPr>
          <a:xfrm>
            <a:off x="7725240" y="2484360"/>
            <a:ext cx="2689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7365d"/>
                </a:solidFill>
                <a:latin typeface="Times New Roman"/>
              </a:rPr>
              <a:t>score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3" name="Rectangle 237"/>
          <p:cNvSpPr/>
          <p:nvPr/>
        </p:nvSpPr>
        <p:spPr>
          <a:xfrm>
            <a:off x="8673120" y="1738080"/>
            <a:ext cx="595440" cy="703440"/>
          </a:xfrm>
          <a:prstGeom prst="rect">
            <a:avLst/>
          </a:prstGeom>
          <a:solidFill>
            <a:srgbClr val="dce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Connector 238"/>
          <p:cNvSpPr/>
          <p:nvPr/>
        </p:nvSpPr>
        <p:spPr>
          <a:xfrm>
            <a:off x="8389800" y="2441520"/>
            <a:ext cx="1207080" cy="36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" name="Connector 239"/>
          <p:cNvSpPr/>
          <p:nvPr/>
        </p:nvSpPr>
        <p:spPr>
          <a:xfrm flipV="1">
            <a:off x="8389800" y="1714680"/>
            <a:ext cx="360" cy="72684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" name="Freeform 69"/>
          <p:cNvSpPr/>
          <p:nvPr/>
        </p:nvSpPr>
        <p:spPr>
          <a:xfrm>
            <a:off x="8390520" y="1801440"/>
            <a:ext cx="1160640" cy="624960"/>
          </a:xfrm>
          <a:custGeom>
            <a:avLst/>
            <a:gdLst/>
            <a:ahLst/>
            <a:rect l="l" t="t" r="r" b="b"/>
            <a:pathLst>
              <a:path w="1161287" h="625649">
                <a:moveTo>
                  <a:pt x="0" y="625649"/>
                </a:moveTo>
                <a:lnTo>
                  <a:pt x="9677" y="624978"/>
                </a:lnTo>
                <a:lnTo>
                  <a:pt x="19354" y="624278"/>
                </a:lnTo>
                <a:lnTo>
                  <a:pt x="29032" y="623549"/>
                </a:lnTo>
                <a:lnTo>
                  <a:pt x="38709" y="622788"/>
                </a:lnTo>
                <a:lnTo>
                  <a:pt x="48387" y="621995"/>
                </a:lnTo>
                <a:lnTo>
                  <a:pt x="58064" y="621169"/>
                </a:lnTo>
                <a:lnTo>
                  <a:pt x="67741" y="620308"/>
                </a:lnTo>
                <a:lnTo>
                  <a:pt x="77419" y="619410"/>
                </a:lnTo>
                <a:lnTo>
                  <a:pt x="87096" y="618475"/>
                </a:lnTo>
                <a:lnTo>
                  <a:pt x="96773" y="617500"/>
                </a:lnTo>
                <a:lnTo>
                  <a:pt x="106451" y="616486"/>
                </a:lnTo>
                <a:lnTo>
                  <a:pt x="116128" y="615429"/>
                </a:lnTo>
                <a:lnTo>
                  <a:pt x="125806" y="614329"/>
                </a:lnTo>
                <a:lnTo>
                  <a:pt x="135483" y="613184"/>
                </a:lnTo>
                <a:lnTo>
                  <a:pt x="145160" y="611992"/>
                </a:lnTo>
                <a:lnTo>
                  <a:pt x="154838" y="610751"/>
                </a:lnTo>
                <a:lnTo>
                  <a:pt x="164515" y="609461"/>
                </a:lnTo>
                <a:lnTo>
                  <a:pt x="174193" y="608119"/>
                </a:lnTo>
                <a:lnTo>
                  <a:pt x="183870" y="606723"/>
                </a:lnTo>
                <a:lnTo>
                  <a:pt x="193547" y="605272"/>
                </a:lnTo>
                <a:lnTo>
                  <a:pt x="203225" y="603764"/>
                </a:lnTo>
                <a:lnTo>
                  <a:pt x="212902" y="602197"/>
                </a:lnTo>
                <a:lnTo>
                  <a:pt x="222580" y="600569"/>
                </a:lnTo>
                <a:lnTo>
                  <a:pt x="232257" y="598879"/>
                </a:lnTo>
                <a:lnTo>
                  <a:pt x="241934" y="597123"/>
                </a:lnTo>
                <a:lnTo>
                  <a:pt x="251612" y="595301"/>
                </a:lnTo>
                <a:lnTo>
                  <a:pt x="261289" y="593411"/>
                </a:lnTo>
                <a:lnTo>
                  <a:pt x="270967" y="591449"/>
                </a:lnTo>
                <a:lnTo>
                  <a:pt x="280644" y="589415"/>
                </a:lnTo>
                <a:lnTo>
                  <a:pt x="290322" y="587307"/>
                </a:lnTo>
                <a:lnTo>
                  <a:pt x="299999" y="585121"/>
                </a:lnTo>
                <a:lnTo>
                  <a:pt x="309676" y="582857"/>
                </a:lnTo>
                <a:lnTo>
                  <a:pt x="319354" y="580512"/>
                </a:lnTo>
                <a:lnTo>
                  <a:pt x="329031" y="578085"/>
                </a:lnTo>
                <a:lnTo>
                  <a:pt x="338709" y="575572"/>
                </a:lnTo>
                <a:lnTo>
                  <a:pt x="348386" y="572973"/>
                </a:lnTo>
                <a:lnTo>
                  <a:pt x="358063" y="570284"/>
                </a:lnTo>
                <a:lnTo>
                  <a:pt x="367741" y="567506"/>
                </a:lnTo>
                <a:lnTo>
                  <a:pt x="377418" y="564634"/>
                </a:lnTo>
                <a:lnTo>
                  <a:pt x="387096" y="561668"/>
                </a:lnTo>
                <a:lnTo>
                  <a:pt x="396773" y="558605"/>
                </a:lnTo>
                <a:lnTo>
                  <a:pt x="406450" y="555444"/>
                </a:lnTo>
                <a:lnTo>
                  <a:pt x="416128" y="552184"/>
                </a:lnTo>
                <a:lnTo>
                  <a:pt x="425805" y="548821"/>
                </a:lnTo>
                <a:lnTo>
                  <a:pt x="435483" y="545355"/>
                </a:lnTo>
                <a:lnTo>
                  <a:pt x="445160" y="541785"/>
                </a:lnTo>
                <a:lnTo>
                  <a:pt x="454837" y="538108"/>
                </a:lnTo>
                <a:lnTo>
                  <a:pt x="464515" y="534323"/>
                </a:lnTo>
                <a:lnTo>
                  <a:pt x="474192" y="530429"/>
                </a:lnTo>
                <a:lnTo>
                  <a:pt x="483870" y="526424"/>
                </a:lnTo>
                <a:lnTo>
                  <a:pt x="493547" y="522308"/>
                </a:lnTo>
                <a:lnTo>
                  <a:pt x="503224" y="518079"/>
                </a:lnTo>
                <a:lnTo>
                  <a:pt x="512902" y="513737"/>
                </a:lnTo>
                <a:lnTo>
                  <a:pt x="522579" y="509281"/>
                </a:lnTo>
                <a:lnTo>
                  <a:pt x="532257" y="504709"/>
                </a:lnTo>
                <a:lnTo>
                  <a:pt x="541934" y="500021"/>
                </a:lnTo>
                <a:lnTo>
                  <a:pt x="551611" y="495217"/>
                </a:lnTo>
                <a:lnTo>
                  <a:pt x="561289" y="490296"/>
                </a:lnTo>
                <a:lnTo>
                  <a:pt x="570966" y="485258"/>
                </a:lnTo>
                <a:lnTo>
                  <a:pt x="580644" y="480103"/>
                </a:lnTo>
                <a:lnTo>
                  <a:pt x="590321" y="474831"/>
                </a:lnTo>
                <a:lnTo>
                  <a:pt x="599998" y="469441"/>
                </a:lnTo>
                <a:lnTo>
                  <a:pt x="609676" y="463935"/>
                </a:lnTo>
                <a:lnTo>
                  <a:pt x="619353" y="458311"/>
                </a:lnTo>
                <a:lnTo>
                  <a:pt x="629030" y="452571"/>
                </a:lnTo>
                <a:lnTo>
                  <a:pt x="638708" y="446716"/>
                </a:lnTo>
                <a:lnTo>
                  <a:pt x="648385" y="440745"/>
                </a:lnTo>
                <a:lnTo>
                  <a:pt x="658063" y="434660"/>
                </a:lnTo>
                <a:lnTo>
                  <a:pt x="667740" y="428461"/>
                </a:lnTo>
                <a:lnTo>
                  <a:pt x="677417" y="422149"/>
                </a:lnTo>
                <a:lnTo>
                  <a:pt x="687095" y="415726"/>
                </a:lnTo>
                <a:lnTo>
                  <a:pt x="696772" y="409193"/>
                </a:lnTo>
                <a:lnTo>
                  <a:pt x="706450" y="402550"/>
                </a:lnTo>
                <a:lnTo>
                  <a:pt x="716127" y="395800"/>
                </a:lnTo>
                <a:lnTo>
                  <a:pt x="725804" y="388943"/>
                </a:lnTo>
                <a:lnTo>
                  <a:pt x="735482" y="381982"/>
                </a:lnTo>
                <a:lnTo>
                  <a:pt x="745159" y="374917"/>
                </a:lnTo>
                <a:lnTo>
                  <a:pt x="754837" y="367750"/>
                </a:lnTo>
                <a:lnTo>
                  <a:pt x="764514" y="360483"/>
                </a:lnTo>
                <a:lnTo>
                  <a:pt x="774191" y="353118"/>
                </a:lnTo>
                <a:lnTo>
                  <a:pt x="783869" y="345657"/>
                </a:lnTo>
                <a:lnTo>
                  <a:pt x="793546" y="338101"/>
                </a:lnTo>
                <a:lnTo>
                  <a:pt x="803224" y="330453"/>
                </a:lnTo>
                <a:lnTo>
                  <a:pt x="812901" y="322713"/>
                </a:lnTo>
                <a:lnTo>
                  <a:pt x="822579" y="314885"/>
                </a:lnTo>
                <a:lnTo>
                  <a:pt x="832256" y="306970"/>
                </a:lnTo>
                <a:lnTo>
                  <a:pt x="841933" y="298971"/>
                </a:lnTo>
                <a:lnTo>
                  <a:pt x="851611" y="290888"/>
                </a:lnTo>
                <a:lnTo>
                  <a:pt x="861288" y="282725"/>
                </a:lnTo>
                <a:lnTo>
                  <a:pt x="870966" y="274483"/>
                </a:lnTo>
                <a:lnTo>
                  <a:pt x="880643" y="266164"/>
                </a:lnTo>
                <a:lnTo>
                  <a:pt x="890320" y="257770"/>
                </a:lnTo>
                <a:lnTo>
                  <a:pt x="899998" y="249304"/>
                </a:lnTo>
                <a:lnTo>
                  <a:pt x="909675" y="240767"/>
                </a:lnTo>
                <a:lnTo>
                  <a:pt x="919353" y="232162"/>
                </a:lnTo>
                <a:lnTo>
                  <a:pt x="929030" y="223490"/>
                </a:lnTo>
                <a:lnTo>
                  <a:pt x="938707" y="214753"/>
                </a:lnTo>
                <a:lnTo>
                  <a:pt x="948385" y="205953"/>
                </a:lnTo>
                <a:lnTo>
                  <a:pt x="958062" y="197093"/>
                </a:lnTo>
                <a:lnTo>
                  <a:pt x="967740" y="188174"/>
                </a:lnTo>
                <a:lnTo>
                  <a:pt x="977417" y="179197"/>
                </a:lnTo>
                <a:lnTo>
                  <a:pt x="987094" y="170165"/>
                </a:lnTo>
                <a:lnTo>
                  <a:pt x="996772" y="161080"/>
                </a:lnTo>
                <a:lnTo>
                  <a:pt x="1006449" y="151943"/>
                </a:lnTo>
                <a:lnTo>
                  <a:pt x="1016127" y="142755"/>
                </a:lnTo>
                <a:lnTo>
                  <a:pt x="1025804" y="133520"/>
                </a:lnTo>
                <a:lnTo>
                  <a:pt x="1035481" y="124238"/>
                </a:lnTo>
                <a:lnTo>
                  <a:pt x="1045159" y="114911"/>
                </a:lnTo>
                <a:lnTo>
                  <a:pt x="1054836" y="105540"/>
                </a:lnTo>
                <a:lnTo>
                  <a:pt x="1064514" y="96127"/>
                </a:lnTo>
                <a:lnTo>
                  <a:pt x="1074191" y="86674"/>
                </a:lnTo>
                <a:lnTo>
                  <a:pt x="1083868" y="77182"/>
                </a:lnTo>
                <a:lnTo>
                  <a:pt x="1093546" y="67652"/>
                </a:lnTo>
                <a:lnTo>
                  <a:pt x="1103223" y="58086"/>
                </a:lnTo>
                <a:lnTo>
                  <a:pt x="1112900" y="48485"/>
                </a:lnTo>
                <a:lnTo>
                  <a:pt x="1122578" y="38850"/>
                </a:lnTo>
                <a:lnTo>
                  <a:pt x="1132255" y="29183"/>
                </a:lnTo>
                <a:lnTo>
                  <a:pt x="1141933" y="19485"/>
                </a:lnTo>
                <a:lnTo>
                  <a:pt x="1151610" y="9757"/>
                </a:lnTo>
                <a:lnTo>
                  <a:pt x="1161287" y="0"/>
                </a:lnTo>
              </a:path>
            </a:pathLst>
          </a:custGeom>
          <a:noFill/>
          <a:ln w="21590">
            <a:solidFill>
              <a:srgbClr val="167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Oval 240"/>
          <p:cNvSpPr/>
          <p:nvPr/>
        </p:nvSpPr>
        <p:spPr>
          <a:xfrm>
            <a:off x="8852400" y="2275200"/>
            <a:ext cx="86040" cy="86040"/>
          </a:xfrm>
          <a:prstGeom prst="ellipse">
            <a:avLst/>
          </a:prstGeom>
          <a:solidFill>
            <a:srgbClr val="e34a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Oval 241"/>
          <p:cNvSpPr/>
          <p:nvPr/>
        </p:nvSpPr>
        <p:spPr>
          <a:xfrm>
            <a:off x="8966880" y="2230200"/>
            <a:ext cx="86040" cy="86040"/>
          </a:xfrm>
          <a:prstGeom prst="ellipse">
            <a:avLst/>
          </a:prstGeom>
          <a:solidFill>
            <a:srgbClr val="1678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onnector 242"/>
          <p:cNvSpPr/>
          <p:nvPr/>
        </p:nvSpPr>
        <p:spPr>
          <a:xfrm flipH="1">
            <a:off x="8685000" y="2318040"/>
            <a:ext cx="155520" cy="360"/>
          </a:xfrm>
          <a:prstGeom prst="line">
            <a:avLst/>
          </a:prstGeom>
          <a:ln>
            <a:solidFill>
              <a:srgbClr val="17365d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" name="Connector 243"/>
          <p:cNvSpPr/>
          <p:nvPr/>
        </p:nvSpPr>
        <p:spPr>
          <a:xfrm>
            <a:off x="9064800" y="2273040"/>
            <a:ext cx="155160" cy="360"/>
          </a:xfrm>
          <a:prstGeom prst="line">
            <a:avLst/>
          </a:prstGeom>
          <a:ln>
            <a:solidFill>
              <a:srgbClr val="17365d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" name="TextBox 244"/>
          <p:cNvSpPr/>
          <p:nvPr/>
        </p:nvSpPr>
        <p:spPr>
          <a:xfrm>
            <a:off x="9325440" y="2484360"/>
            <a:ext cx="2689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7365d"/>
                </a:solidFill>
                <a:latin typeface="Times New Roman"/>
              </a:rPr>
              <a:t>score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" name="Connector 245"/>
          <p:cNvSpPr/>
          <p:nvPr/>
        </p:nvSpPr>
        <p:spPr>
          <a:xfrm>
            <a:off x="7402320" y="2725200"/>
            <a:ext cx="530280" cy="32904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3" name="Connector 246"/>
          <p:cNvSpPr/>
          <p:nvPr/>
        </p:nvSpPr>
        <p:spPr>
          <a:xfrm flipH="1">
            <a:off x="8444880" y="2725200"/>
            <a:ext cx="521280" cy="32904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4" name="TextBox 247"/>
          <p:cNvSpPr/>
          <p:nvPr/>
        </p:nvSpPr>
        <p:spPr>
          <a:xfrm>
            <a:off x="7498080" y="3080160"/>
            <a:ext cx="12459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7365d"/>
                </a:solidFill>
                <a:latin typeface="Times New Roman"/>
              </a:rPr>
              <a:t>after calibration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5" name="Rectangle 248"/>
          <p:cNvSpPr/>
          <p:nvPr/>
        </p:nvSpPr>
        <p:spPr>
          <a:xfrm>
            <a:off x="7859880" y="3402360"/>
            <a:ext cx="590760" cy="666720"/>
          </a:xfrm>
          <a:prstGeom prst="rect">
            <a:avLst/>
          </a:prstGeom>
          <a:solidFill>
            <a:srgbClr val="dce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Connector 249"/>
          <p:cNvSpPr/>
          <p:nvPr/>
        </p:nvSpPr>
        <p:spPr>
          <a:xfrm>
            <a:off x="7579440" y="4069440"/>
            <a:ext cx="1197720" cy="36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" name="Connector 250"/>
          <p:cNvSpPr/>
          <p:nvPr/>
        </p:nvSpPr>
        <p:spPr>
          <a:xfrm flipV="1">
            <a:off x="7579440" y="3378960"/>
            <a:ext cx="360" cy="690480"/>
          </a:xfrm>
          <a:prstGeom prst="line">
            <a:avLst/>
          </a:prstGeom>
          <a:ln>
            <a:solidFill>
              <a:srgbClr val="222222"/>
            </a:solidFill>
            <a:tailEnd len="sm"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8" name="Freeform 70"/>
          <p:cNvSpPr/>
          <p:nvPr/>
        </p:nvSpPr>
        <p:spPr>
          <a:xfrm>
            <a:off x="7579440" y="3462480"/>
            <a:ext cx="1151280" cy="592560"/>
          </a:xfrm>
          <a:custGeom>
            <a:avLst/>
            <a:gdLst/>
            <a:ahLst/>
            <a:rect l="l" t="t" r="r" b="b"/>
            <a:pathLst>
              <a:path w="1152144" h="593146">
                <a:moveTo>
                  <a:pt x="0" y="593146"/>
                </a:moveTo>
                <a:lnTo>
                  <a:pt x="9601" y="592511"/>
                </a:lnTo>
                <a:lnTo>
                  <a:pt x="19202" y="591847"/>
                </a:lnTo>
                <a:lnTo>
                  <a:pt x="28803" y="591156"/>
                </a:lnTo>
                <a:lnTo>
                  <a:pt x="38404" y="590435"/>
                </a:lnTo>
                <a:lnTo>
                  <a:pt x="48006" y="589683"/>
                </a:lnTo>
                <a:lnTo>
                  <a:pt x="57607" y="588900"/>
                </a:lnTo>
                <a:lnTo>
                  <a:pt x="67208" y="588083"/>
                </a:lnTo>
                <a:lnTo>
                  <a:pt x="76809" y="587232"/>
                </a:lnTo>
                <a:lnTo>
                  <a:pt x="86410" y="586345"/>
                </a:lnTo>
                <a:lnTo>
                  <a:pt x="96012" y="585422"/>
                </a:lnTo>
                <a:lnTo>
                  <a:pt x="105613" y="584460"/>
                </a:lnTo>
                <a:lnTo>
                  <a:pt x="115214" y="583458"/>
                </a:lnTo>
                <a:lnTo>
                  <a:pt x="124815" y="582415"/>
                </a:lnTo>
                <a:lnTo>
                  <a:pt x="134416" y="581329"/>
                </a:lnTo>
                <a:lnTo>
                  <a:pt x="144018" y="580199"/>
                </a:lnTo>
                <a:lnTo>
                  <a:pt x="153619" y="579023"/>
                </a:lnTo>
                <a:lnTo>
                  <a:pt x="163220" y="577800"/>
                </a:lnTo>
                <a:lnTo>
                  <a:pt x="172821" y="576527"/>
                </a:lnTo>
                <a:lnTo>
                  <a:pt x="182422" y="575204"/>
                </a:lnTo>
                <a:lnTo>
                  <a:pt x="192024" y="573829"/>
                </a:lnTo>
                <a:lnTo>
                  <a:pt x="201625" y="572399"/>
                </a:lnTo>
                <a:lnTo>
                  <a:pt x="211226" y="570913"/>
                </a:lnTo>
                <a:lnTo>
                  <a:pt x="220827" y="569370"/>
                </a:lnTo>
                <a:lnTo>
                  <a:pt x="230428" y="567767"/>
                </a:lnTo>
                <a:lnTo>
                  <a:pt x="240030" y="566103"/>
                </a:lnTo>
                <a:lnTo>
                  <a:pt x="249631" y="564376"/>
                </a:lnTo>
                <a:lnTo>
                  <a:pt x="259232" y="562583"/>
                </a:lnTo>
                <a:lnTo>
                  <a:pt x="268833" y="560724"/>
                </a:lnTo>
                <a:lnTo>
                  <a:pt x="278434" y="558796"/>
                </a:lnTo>
                <a:lnTo>
                  <a:pt x="288036" y="556796"/>
                </a:lnTo>
                <a:lnTo>
                  <a:pt x="297637" y="554725"/>
                </a:lnTo>
                <a:lnTo>
                  <a:pt x="307238" y="552578"/>
                </a:lnTo>
                <a:lnTo>
                  <a:pt x="316839" y="550355"/>
                </a:lnTo>
                <a:lnTo>
                  <a:pt x="326440" y="548053"/>
                </a:lnTo>
                <a:lnTo>
                  <a:pt x="336042" y="545671"/>
                </a:lnTo>
                <a:lnTo>
                  <a:pt x="345643" y="543207"/>
                </a:lnTo>
                <a:lnTo>
                  <a:pt x="355244" y="540658"/>
                </a:lnTo>
                <a:lnTo>
                  <a:pt x="364845" y="538024"/>
                </a:lnTo>
                <a:lnTo>
                  <a:pt x="374446" y="535302"/>
                </a:lnTo>
                <a:lnTo>
                  <a:pt x="384048" y="532489"/>
                </a:lnTo>
                <a:lnTo>
                  <a:pt x="393649" y="529586"/>
                </a:lnTo>
                <a:lnTo>
                  <a:pt x="403250" y="526589"/>
                </a:lnTo>
                <a:lnTo>
                  <a:pt x="412851" y="523498"/>
                </a:lnTo>
                <a:lnTo>
                  <a:pt x="422452" y="520310"/>
                </a:lnTo>
                <a:lnTo>
                  <a:pt x="432054" y="517024"/>
                </a:lnTo>
                <a:lnTo>
                  <a:pt x="441655" y="513639"/>
                </a:lnTo>
                <a:lnTo>
                  <a:pt x="451256" y="510153"/>
                </a:lnTo>
                <a:lnTo>
                  <a:pt x="460857" y="506565"/>
                </a:lnTo>
                <a:lnTo>
                  <a:pt x="470458" y="502873"/>
                </a:lnTo>
                <a:lnTo>
                  <a:pt x="480060" y="499077"/>
                </a:lnTo>
                <a:lnTo>
                  <a:pt x="489661" y="495174"/>
                </a:lnTo>
                <a:lnTo>
                  <a:pt x="499262" y="491165"/>
                </a:lnTo>
                <a:lnTo>
                  <a:pt x="508863" y="487049"/>
                </a:lnTo>
                <a:lnTo>
                  <a:pt x="518464" y="482824"/>
                </a:lnTo>
                <a:lnTo>
                  <a:pt x="528066" y="478489"/>
                </a:lnTo>
                <a:lnTo>
                  <a:pt x="537667" y="474045"/>
                </a:lnTo>
                <a:lnTo>
                  <a:pt x="547268" y="469491"/>
                </a:lnTo>
                <a:lnTo>
                  <a:pt x="556869" y="464826"/>
                </a:lnTo>
                <a:lnTo>
                  <a:pt x="566470" y="460049"/>
                </a:lnTo>
                <a:lnTo>
                  <a:pt x="576072" y="455162"/>
                </a:lnTo>
                <a:lnTo>
                  <a:pt x="585673" y="450164"/>
                </a:lnTo>
                <a:lnTo>
                  <a:pt x="595274" y="445054"/>
                </a:lnTo>
                <a:lnTo>
                  <a:pt x="604875" y="439833"/>
                </a:lnTo>
                <a:lnTo>
                  <a:pt x="614476" y="434502"/>
                </a:lnTo>
                <a:lnTo>
                  <a:pt x="624077" y="429060"/>
                </a:lnTo>
                <a:lnTo>
                  <a:pt x="633679" y="423509"/>
                </a:lnTo>
                <a:lnTo>
                  <a:pt x="643280" y="417848"/>
                </a:lnTo>
                <a:lnTo>
                  <a:pt x="652881" y="412079"/>
                </a:lnTo>
                <a:lnTo>
                  <a:pt x="662482" y="406202"/>
                </a:lnTo>
                <a:lnTo>
                  <a:pt x="672084" y="400219"/>
                </a:lnTo>
                <a:lnTo>
                  <a:pt x="681685" y="394129"/>
                </a:lnTo>
                <a:lnTo>
                  <a:pt x="691286" y="387935"/>
                </a:lnTo>
                <a:lnTo>
                  <a:pt x="700887" y="381638"/>
                </a:lnTo>
                <a:lnTo>
                  <a:pt x="710488" y="375238"/>
                </a:lnTo>
                <a:lnTo>
                  <a:pt x="720090" y="368738"/>
                </a:lnTo>
                <a:lnTo>
                  <a:pt x="729691" y="362138"/>
                </a:lnTo>
                <a:lnTo>
                  <a:pt x="739292" y="355440"/>
                </a:lnTo>
                <a:lnTo>
                  <a:pt x="748893" y="348645"/>
                </a:lnTo>
                <a:lnTo>
                  <a:pt x="758494" y="341756"/>
                </a:lnTo>
                <a:lnTo>
                  <a:pt x="768096" y="334774"/>
                </a:lnTo>
                <a:lnTo>
                  <a:pt x="777697" y="327700"/>
                </a:lnTo>
                <a:lnTo>
                  <a:pt x="787298" y="320537"/>
                </a:lnTo>
                <a:lnTo>
                  <a:pt x="796899" y="313285"/>
                </a:lnTo>
                <a:lnTo>
                  <a:pt x="806500" y="305948"/>
                </a:lnTo>
                <a:lnTo>
                  <a:pt x="816102" y="298527"/>
                </a:lnTo>
                <a:lnTo>
                  <a:pt x="825703" y="291023"/>
                </a:lnTo>
                <a:lnTo>
                  <a:pt x="835304" y="283439"/>
                </a:lnTo>
                <a:lnTo>
                  <a:pt x="844905" y="275776"/>
                </a:lnTo>
                <a:lnTo>
                  <a:pt x="854506" y="268037"/>
                </a:lnTo>
                <a:lnTo>
                  <a:pt x="864108" y="260223"/>
                </a:lnTo>
                <a:lnTo>
                  <a:pt x="873709" y="252336"/>
                </a:lnTo>
                <a:lnTo>
                  <a:pt x="883310" y="244379"/>
                </a:lnTo>
                <a:lnTo>
                  <a:pt x="892911" y="236353"/>
                </a:lnTo>
                <a:lnTo>
                  <a:pt x="902512" y="228259"/>
                </a:lnTo>
                <a:lnTo>
                  <a:pt x="912114" y="220101"/>
                </a:lnTo>
                <a:lnTo>
                  <a:pt x="921715" y="211879"/>
                </a:lnTo>
                <a:lnTo>
                  <a:pt x="931316" y="203596"/>
                </a:lnTo>
                <a:lnTo>
                  <a:pt x="940917" y="195254"/>
                </a:lnTo>
                <a:lnTo>
                  <a:pt x="950518" y="186854"/>
                </a:lnTo>
                <a:lnTo>
                  <a:pt x="960120" y="178398"/>
                </a:lnTo>
                <a:lnTo>
                  <a:pt x="969721" y="169887"/>
                </a:lnTo>
                <a:lnTo>
                  <a:pt x="979322" y="161325"/>
                </a:lnTo>
                <a:lnTo>
                  <a:pt x="988923" y="152711"/>
                </a:lnTo>
                <a:lnTo>
                  <a:pt x="998524" y="144049"/>
                </a:lnTo>
                <a:lnTo>
                  <a:pt x="1008125" y="135339"/>
                </a:lnTo>
                <a:lnTo>
                  <a:pt x="1017727" y="126583"/>
                </a:lnTo>
                <a:lnTo>
                  <a:pt x="1027328" y="117783"/>
                </a:lnTo>
                <a:lnTo>
                  <a:pt x="1036929" y="108940"/>
                </a:lnTo>
                <a:lnTo>
                  <a:pt x="1046530" y="100056"/>
                </a:lnTo>
                <a:lnTo>
                  <a:pt x="1056132" y="91133"/>
                </a:lnTo>
                <a:lnTo>
                  <a:pt x="1065733" y="82171"/>
                </a:lnTo>
                <a:lnTo>
                  <a:pt x="1075334" y="73171"/>
                </a:lnTo>
                <a:lnTo>
                  <a:pt x="1084935" y="64137"/>
                </a:lnTo>
                <a:lnTo>
                  <a:pt x="1094536" y="55067"/>
                </a:lnTo>
                <a:lnTo>
                  <a:pt x="1104138" y="45965"/>
                </a:lnTo>
                <a:lnTo>
                  <a:pt x="1113739" y="36831"/>
                </a:lnTo>
                <a:lnTo>
                  <a:pt x="1123340" y="27666"/>
                </a:lnTo>
                <a:lnTo>
                  <a:pt x="1132941" y="18472"/>
                </a:lnTo>
                <a:lnTo>
                  <a:pt x="1142542" y="9250"/>
                </a:lnTo>
                <a:lnTo>
                  <a:pt x="1152144" y="0"/>
                </a:lnTo>
              </a:path>
            </a:pathLst>
          </a:custGeom>
          <a:noFill/>
          <a:ln w="21590">
            <a:solidFill>
              <a:srgbClr val="167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Oval 251"/>
          <p:cNvSpPr/>
          <p:nvPr/>
        </p:nvSpPr>
        <p:spPr>
          <a:xfrm>
            <a:off x="7960320" y="3941280"/>
            <a:ext cx="86040" cy="86040"/>
          </a:xfrm>
          <a:prstGeom prst="ellipse">
            <a:avLst/>
          </a:prstGeom>
          <a:solidFill>
            <a:srgbClr val="e34a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Oval 252"/>
          <p:cNvSpPr/>
          <p:nvPr/>
        </p:nvSpPr>
        <p:spPr>
          <a:xfrm>
            <a:off x="8263800" y="3780720"/>
            <a:ext cx="86040" cy="86040"/>
          </a:xfrm>
          <a:prstGeom prst="ellipse">
            <a:avLst/>
          </a:prstGeom>
          <a:solidFill>
            <a:srgbClr val="1678c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253"/>
          <p:cNvSpPr/>
          <p:nvPr/>
        </p:nvSpPr>
        <p:spPr>
          <a:xfrm>
            <a:off x="8505360" y="4111920"/>
            <a:ext cx="2689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7365d"/>
                </a:solidFill>
                <a:latin typeface="Times New Roman"/>
              </a:rPr>
              <a:t>score</a:t>
            </a:r>
            <a:endParaRPr b="0" lang="en-US" sz="10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2" name="文本框 36"/>
              <p:cNvSpPr txBox="1"/>
              <p:nvPr/>
            </p:nvSpPr>
            <p:spPr>
              <a:xfrm>
                <a:off x="10442880" y="2305800"/>
                <a:ext cx="1726200" cy="239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𝑟</m:t>
                        </m:r>
                      </m:e>
                      <m:sup>
                        <m:r>
                          <m:t xml:space="preserve">𝐷𝐴𝑅𝐸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𝑠𝑜𝑓𝑡𝑝𝑙𝑢𝑠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𝑧</m:t>
                            </m:r>
                          </m:e>
                          <m:sub>
                            <m:r>
                              <m:t xml:space="preserve">𝜃</m:t>
                            </m:r>
                          </m:sub>
                        </m:sSub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∆</m:t>
                                </m:r>
                              </m:e>
                              <m:sub>
                                <m:r>
                                  <m:t xml:space="preserve"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412</Words>
  <Paragraphs>56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2026-09-15T03:58:00Z</dcterms:created>
  <dc:creator>OpenAI</dc:creator>
  <dc:description/>
  <dc:language>en-US</dc:language>
  <cp:lastModifiedBy/>
  <dcterms:modified xsi:type="dcterms:W3CDTF">2026-09-15T21:53:12Z</dcterms:modified>
  <cp:revision>17</cp:revision>
  <dc:subject>DARE pipeline clean redraw</dc:subject>
  <dc:title>DARE Pipeline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E9CF056D86154D8F8F6C5E5F8993E033_12</vt:lpwstr>
  </property>
  <property fmtid="{D5CDD505-2E9C-101B-9397-08002B2CF9AE}" pid="3" name="KSOProductBuildVer">
    <vt:lpwstr>2052-12.1.0.20784</vt:lpwstr>
  </property>
  <property fmtid="{D5CDD505-2E9C-101B-9397-08002B2CF9AE}" pid="4" name="Notes">
    <vt:i4>1</vt:i4>
  </property>
  <property fmtid="{D5CDD505-2E9C-101B-9397-08002B2CF9AE}" pid="5" name="PresentationFormat">
    <vt:lpwstr>On-screen Show (16:9)</vt:lpwstr>
  </property>
  <property fmtid="{D5CDD505-2E9C-101B-9397-08002B2CF9AE}" pid="6" name="Slides">
    <vt:i4>1</vt:i4>
  </property>
</Properties>
</file>