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strike="noStrike" spc="-1">
                <a:solidFill>
                  <a:srgbClr val="000000"/>
                </a:solidFill>
                <a:latin typeface="Arial" panose="020B0604020202020204"/>
              </a:rPr>
              <a:t>Click to move the slide</a:t>
            </a:r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2000" b="0" strike="noStrike" spc="-1">
                <a:latin typeface="Arial" panose="020B0604020202020204"/>
              </a:rPr>
              <a:t>Click to edit the notes format</a:t>
            </a:r>
            <a:endParaRPr lang="en-US" sz="2000" b="0" strike="noStrike" spc="-1">
              <a:latin typeface="Arial" panose="020B0604020202020204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rPr lang="en-US" sz="1400" b="0" strike="noStrike" spc="-1">
                <a:latin typeface="Times New Roman" panose="02020603050405020304"/>
              </a:rPr>
              <a:t>&lt;header&gt;</a:t>
            </a:r>
            <a:endParaRPr lang="en-US" sz="1400" b="0" strike="noStrike" spc="-1">
              <a:latin typeface="Times New Roman" panose="02020603050405020304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 panose="02020603050405020304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 panose="02020603050405020304"/>
              </a:rPr>
              <a:t>&lt;date/time&gt;</a:t>
            </a:r>
            <a:endParaRPr lang="en-US" sz="1400" b="0" strike="noStrike" spc="-1">
              <a:latin typeface="Times New Roman" panose="02020603050405020304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 panose="02020603050405020304"/>
              </a:defRPr>
            </a:lvl1pPr>
          </a:lstStyle>
          <a:p>
            <a:r>
              <a:rPr lang="en-US" sz="1400" b="0" strike="noStrike" spc="-1">
                <a:latin typeface="Times New Roman" panose="02020603050405020304"/>
              </a:rPr>
              <a:t>&lt;footer&gt;</a:t>
            </a:r>
            <a:endParaRPr lang="en-US" sz="1400" b="0" strike="noStrike" spc="-1">
              <a:latin typeface="Times New Roman" panose="02020603050405020304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 panose="02020603050405020304"/>
              </a:defRPr>
            </a:lvl1pPr>
          </a:lstStyle>
          <a:p>
            <a:pPr algn="r">
              <a:buNone/>
            </a:pPr>
            <a:fld id="{7FA40426-D651-41A5-8893-E77E4D279CF1}" type="slidenum">
              <a:rPr lang="en-US" sz="1400" b="0" strike="noStrike" spc="-1">
                <a:latin typeface="Times New Roman" panose="02020603050405020304"/>
              </a:rPr>
            </a:fld>
            <a:endParaRPr lang="en-US" sz="1400" b="0" strike="noStrike" spc="-1"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lang="en-US" sz="2000" b="0" strike="noStrike" spc="-1">
              <a:latin typeface="Arial" panose="020B0604020202020204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E78DE7-D0A7-45F5-8EA2-0C84A5C417F4}" type="slidenum">
              <a:rPr lang="en-US" sz="1200" b="0" strike="noStrike" spc="-1">
                <a:solidFill>
                  <a:srgbClr val="000000"/>
                </a:solidFill>
                <a:latin typeface="+mn-lt"/>
                <a:ea typeface="+mn-ea"/>
              </a:rPr>
            </a:fld>
            <a:endParaRPr lang="en-US" sz="1200" b="0" strike="noStrike" spc="-1">
              <a:latin typeface="Times New Roman" panose="02020603050405020304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US" sz="32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buNone/>
            </a:pPr>
            <a:endParaRPr lang="en-US" sz="32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61"/>
          <p:cNvSpPr/>
          <p:nvPr/>
        </p:nvSpPr>
        <p:spPr>
          <a:xfrm>
            <a:off x="8684895" y="1261745"/>
            <a:ext cx="3285490" cy="3492500"/>
          </a:xfrm>
          <a:prstGeom prst="roundRect">
            <a:avLst>
              <a:gd name="adj" fmla="val 2116"/>
            </a:avLst>
          </a:prstGeom>
          <a:noFill/>
          <a:ln w="12700">
            <a:solidFill>
              <a:srgbClr val="74B7FF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43" name="Shape 1"/>
          <p:cNvSpPr/>
          <p:nvPr/>
        </p:nvSpPr>
        <p:spPr>
          <a:xfrm>
            <a:off x="228600" y="947420"/>
            <a:ext cx="1572480" cy="1444320"/>
          </a:xfrm>
          <a:prstGeom prst="roundRect">
            <a:avLst>
              <a:gd name="adj" fmla="val 3797"/>
            </a:avLst>
          </a:prstGeom>
          <a:solidFill>
            <a:srgbClr val="FFF3E9"/>
          </a:solidFill>
          <a:ln w="12700">
            <a:solidFill>
              <a:srgbClr val="F26A1B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44" name="Text 2"/>
          <p:cNvSpPr/>
          <p:nvPr/>
        </p:nvSpPr>
        <p:spPr>
          <a:xfrm>
            <a:off x="329040" y="1066220"/>
            <a:ext cx="1371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87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F26A1B"/>
                </a:solidFill>
                <a:latin typeface="Times New Roman" panose="02020603050405020304"/>
                <a:ea typeface="Arial" panose="020B0604020202020204"/>
              </a:rPr>
              <a:t>Reference motion</a:t>
            </a:r>
            <a:endParaRPr lang="en-US" sz="1600" b="0" strike="noStrike" spc="-1">
              <a:latin typeface="Arial" panose="020B0604020202020204"/>
            </a:endParaRPr>
          </a:p>
        </p:txBody>
      </p:sp>
      <p:pic>
        <p:nvPicPr>
          <p:cNvPr id="45" name="Image 0" descr="/mnt/data/humanoid_orange_transparent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96960" y="1322180"/>
            <a:ext cx="553320" cy="840960"/>
          </a:xfrm>
          <a:prstGeom prst="rect">
            <a:avLst/>
          </a:prstGeom>
          <a:ln w="0">
            <a:noFill/>
          </a:ln>
        </p:spPr>
      </p:pic>
      <p:sp>
        <p:nvSpPr>
          <p:cNvPr id="46" name="Shape 3"/>
          <p:cNvSpPr/>
          <p:nvPr/>
        </p:nvSpPr>
        <p:spPr>
          <a:xfrm>
            <a:off x="228600" y="2593340"/>
            <a:ext cx="1572480" cy="1755360"/>
          </a:xfrm>
          <a:prstGeom prst="roundRect">
            <a:avLst>
              <a:gd name="adj" fmla="val 3488"/>
            </a:avLst>
          </a:prstGeom>
          <a:solidFill>
            <a:srgbClr val="EAF4FF"/>
          </a:solidFill>
          <a:ln w="12700">
            <a:solidFill>
              <a:srgbClr val="0B73E0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47" name="Text 4"/>
          <p:cNvSpPr/>
          <p:nvPr/>
        </p:nvSpPr>
        <p:spPr>
          <a:xfrm>
            <a:off x="329040" y="2703140"/>
            <a:ext cx="1371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82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0B73E0"/>
                </a:solidFill>
                <a:latin typeface="Times New Roman" panose="02020603050405020304"/>
                <a:ea typeface="Arial" panose="020B0604020202020204"/>
              </a:rPr>
              <a:t>Policy + simulator</a:t>
            </a:r>
            <a:endParaRPr lang="en-US" sz="1600" b="0" strike="noStrike" spc="-1">
              <a:latin typeface="Arial" panose="020B0604020202020204"/>
            </a:endParaRPr>
          </a:p>
        </p:txBody>
      </p:sp>
      <p:pic>
        <p:nvPicPr>
          <p:cNvPr id="48" name="Image 1" descr="/mnt/data/humanoid_green_transparen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708840" y="3003495"/>
            <a:ext cx="529200" cy="804240"/>
          </a:xfrm>
          <a:prstGeom prst="rect">
            <a:avLst/>
          </a:prstGeom>
          <a:ln w="0">
            <a:noFill/>
          </a:ln>
        </p:spPr>
      </p:pic>
      <p:sp>
        <p:nvSpPr>
          <p:cNvPr id="49" name="Shape 5"/>
          <p:cNvSpPr/>
          <p:nvPr/>
        </p:nvSpPr>
        <p:spPr>
          <a:xfrm>
            <a:off x="438840" y="3864500"/>
            <a:ext cx="100548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0160">
            <a:solidFill>
              <a:srgbClr val="AEB9C7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50" name="Text 6"/>
          <p:cNvSpPr/>
          <p:nvPr/>
        </p:nvSpPr>
        <p:spPr>
          <a:xfrm>
            <a:off x="511920" y="3959225"/>
            <a:ext cx="868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82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rgbClr val="111111"/>
                </a:solidFill>
                <a:latin typeface="Times New Roman" panose="02020603050405020304"/>
                <a:ea typeface="Arial" panose="020B0604020202020204"/>
              </a:rPr>
              <a:t>π(a|s)</a:t>
            </a:r>
            <a:endParaRPr lang="en-US" sz="1600" b="0" strike="noStrike" spc="-1">
              <a:latin typeface="Arial" panose="020B0604020202020204"/>
            </a:endParaRPr>
          </a:p>
        </p:txBody>
      </p:sp>
      <p:sp>
        <p:nvSpPr>
          <p:cNvPr id="51" name="Shape 7"/>
          <p:cNvSpPr/>
          <p:nvPr/>
        </p:nvSpPr>
        <p:spPr>
          <a:xfrm flipV="1">
            <a:off x="411480" y="3352220"/>
            <a:ext cx="118800" cy="137160"/>
          </a:xfrm>
          <a:prstGeom prst="line">
            <a:avLst/>
          </a:prstGeom>
          <a:ln w="12700">
            <a:solidFill>
              <a:srgbClr val="111111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52" name="Shape 8"/>
          <p:cNvSpPr/>
          <p:nvPr/>
        </p:nvSpPr>
        <p:spPr>
          <a:xfrm flipH="1" flipV="1">
            <a:off x="1499400" y="3352220"/>
            <a:ext cx="118800" cy="137160"/>
          </a:xfrm>
          <a:prstGeom prst="line">
            <a:avLst/>
          </a:prstGeom>
          <a:ln w="12700">
            <a:solidFill>
              <a:srgbClr val="111111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53" name="Shape 9"/>
          <p:cNvSpPr/>
          <p:nvPr/>
        </p:nvSpPr>
        <p:spPr>
          <a:xfrm>
            <a:off x="1801080" y="1742660"/>
            <a:ext cx="576360" cy="360"/>
          </a:xfrm>
          <a:prstGeom prst="line">
            <a:avLst/>
          </a:prstGeom>
          <a:ln w="27940" cmpd="sng">
            <a:solidFill>
              <a:schemeClr val="accent2"/>
            </a:solidFill>
            <a:prstDash val="solid"/>
            <a:round/>
            <a:headEnd type="none"/>
            <a:tailEnd type="non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54" name="Shape 10"/>
          <p:cNvSpPr/>
          <p:nvPr/>
        </p:nvSpPr>
        <p:spPr>
          <a:xfrm>
            <a:off x="2377440" y="1742440"/>
            <a:ext cx="635" cy="329565"/>
          </a:xfrm>
          <a:prstGeom prst="line">
            <a:avLst/>
          </a:prstGeom>
          <a:ln w="27940">
            <a:solidFill>
              <a:srgbClr val="F26A1B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55" name="Shape 11"/>
          <p:cNvSpPr/>
          <p:nvPr/>
        </p:nvSpPr>
        <p:spPr>
          <a:xfrm>
            <a:off x="1801080" y="3489380"/>
            <a:ext cx="631080" cy="360"/>
          </a:xfrm>
          <a:prstGeom prst="line">
            <a:avLst/>
          </a:prstGeom>
          <a:ln w="27940">
            <a:solidFill>
              <a:srgbClr val="0B73E0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56" name="Shape 12"/>
          <p:cNvSpPr/>
          <p:nvPr/>
        </p:nvSpPr>
        <p:spPr>
          <a:xfrm flipV="1">
            <a:off x="2432050" y="3082290"/>
            <a:ext cx="635" cy="409575"/>
          </a:xfrm>
          <a:prstGeom prst="line">
            <a:avLst/>
          </a:prstGeom>
          <a:ln w="27940">
            <a:solidFill>
              <a:srgbClr val="0B73E0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57" name="Shape 13"/>
          <p:cNvSpPr/>
          <p:nvPr/>
        </p:nvSpPr>
        <p:spPr>
          <a:xfrm>
            <a:off x="1974960" y="2072060"/>
            <a:ext cx="1298160" cy="10054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6D87A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58" name="Text 14"/>
          <p:cNvSpPr/>
          <p:nvPr/>
        </p:nvSpPr>
        <p:spPr>
          <a:xfrm>
            <a:off x="2157840" y="2200220"/>
            <a:ext cx="94140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72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55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Residual</a:t>
            </a:r>
            <a:endParaRPr lang="en-US" sz="1550" b="0" strike="noStrike" spc="-1">
              <a:latin typeface="Arial" panose="020B0604020202020204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55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construction</a:t>
            </a:r>
            <a:endParaRPr lang="en-US" sz="1550" b="0" strike="noStrike" spc="-1">
              <a:latin typeface="Arial" panose="020B0604020202020204"/>
            </a:endParaRPr>
          </a:p>
        </p:txBody>
      </p:sp>
      <p:sp>
        <p:nvSpPr>
          <p:cNvPr id="59" name="Text 15"/>
          <p:cNvSpPr/>
          <p:nvPr/>
        </p:nvSpPr>
        <p:spPr>
          <a:xfrm>
            <a:off x="2075760" y="2684780"/>
            <a:ext cx="1096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87000"/>
          </a:bodyPr>
          <a:p>
            <a:r>
              <a:rPr>
                <a:latin typeface="Times New Roman"/>
              </a:rPr>
              <a:t>Δₜ = φ(ŝₜ) − φ(sₜ)</a:t>
            </a:r>
          </a:p>
        </p:txBody>
      </p:sp>
      <p:sp>
        <p:nvSpPr>
          <p:cNvPr id="60" name="Shape 16"/>
          <p:cNvSpPr/>
          <p:nvPr/>
        </p:nvSpPr>
        <p:spPr>
          <a:xfrm>
            <a:off x="3401640" y="2249280"/>
            <a:ext cx="1316520" cy="712800"/>
          </a:xfrm>
          <a:prstGeom prst="roundRect">
            <a:avLst>
              <a:gd name="adj" fmla="val 7692"/>
            </a:avLst>
          </a:prstGeom>
          <a:solidFill>
            <a:srgbClr val="FFF0F0"/>
          </a:solidFill>
          <a:ln w="12700">
            <a:solidFill>
              <a:srgbClr val="FF1717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61" name="Text 17"/>
          <p:cNvSpPr/>
          <p:nvPr/>
        </p:nvSpPr>
        <p:spPr>
          <a:xfrm>
            <a:off x="3493080" y="2350080"/>
            <a:ext cx="113364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83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500" b="1" strike="noStrike" spc="-1">
                <a:solidFill>
                  <a:srgbClr val="FF1717"/>
                </a:solidFill>
                <a:latin typeface="Times New Roman" panose="02020603050405020304"/>
                <a:ea typeface="Arial" panose="020B0604020202020204"/>
              </a:rPr>
              <a:t>Negative sample</a:t>
            </a:r>
            <a:endParaRPr lang="en-US" sz="1500" b="0" strike="noStrike" spc="-1">
              <a:latin typeface="Arial" panose="020B0604020202020204"/>
            </a:endParaRPr>
          </a:p>
        </p:txBody>
      </p:sp>
      <p:sp>
        <p:nvSpPr>
          <p:cNvPr id="62" name="Text 18"/>
          <p:cNvSpPr/>
          <p:nvPr/>
        </p:nvSpPr>
        <p:spPr>
          <a:xfrm>
            <a:off x="3922920" y="2660760"/>
            <a:ext cx="2556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48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111111"/>
                </a:solidFill>
                <a:latin typeface="Times New Roman" panose="02020603050405020304"/>
                <a:ea typeface="Arial" panose="020B0604020202020204"/>
              </a:rPr>
              <a:t>Δ⁻</a:t>
            </a:r>
            <a:endParaRPr lang="en-US" sz="2000" b="0" strike="noStrike" spc="-1">
              <a:latin typeface="Arial" panose="020B0604020202020204"/>
            </a:endParaRPr>
          </a:p>
        </p:txBody>
      </p:sp>
      <p:sp>
        <p:nvSpPr>
          <p:cNvPr id="63" name="Shape 19"/>
          <p:cNvSpPr/>
          <p:nvPr/>
        </p:nvSpPr>
        <p:spPr>
          <a:xfrm flipV="1">
            <a:off x="3273425" y="2606040"/>
            <a:ext cx="128270" cy="1270"/>
          </a:xfrm>
          <a:prstGeom prst="line">
            <a:avLst/>
          </a:prstGeom>
          <a:ln w="16510">
            <a:solidFill>
              <a:srgbClr val="FF1717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64" name="Shape 20"/>
          <p:cNvSpPr/>
          <p:nvPr/>
        </p:nvSpPr>
        <p:spPr>
          <a:xfrm>
            <a:off x="3401640" y="3346560"/>
            <a:ext cx="1316520" cy="712800"/>
          </a:xfrm>
          <a:prstGeom prst="roundRect">
            <a:avLst>
              <a:gd name="adj" fmla="val 7692"/>
            </a:avLst>
          </a:prstGeom>
          <a:solidFill>
            <a:srgbClr val="F0FFF3"/>
          </a:solidFill>
          <a:ln w="12700">
            <a:solidFill>
              <a:srgbClr val="20A047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65" name="Text 21"/>
          <p:cNvSpPr/>
          <p:nvPr/>
        </p:nvSpPr>
        <p:spPr>
          <a:xfrm>
            <a:off x="3493080" y="3447360"/>
            <a:ext cx="113364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88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50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Positive anchor</a:t>
            </a:r>
            <a:endParaRPr lang="en-US" sz="1500" b="0" strike="noStrike" spc="-1">
              <a:latin typeface="Arial" panose="020B0604020202020204"/>
            </a:endParaRPr>
          </a:p>
        </p:txBody>
      </p:sp>
      <p:sp>
        <p:nvSpPr>
          <p:cNvPr id="66" name="Text 22"/>
          <p:cNvSpPr/>
          <p:nvPr/>
        </p:nvSpPr>
        <p:spPr>
          <a:xfrm>
            <a:off x="3776400" y="3758040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64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111111"/>
                </a:solidFill>
                <a:latin typeface="Times New Roman" panose="02020603050405020304"/>
                <a:ea typeface="Arial" panose="020B0604020202020204"/>
              </a:rPr>
              <a:t>Δ⁺ = 0</a:t>
            </a:r>
            <a:endParaRPr lang="en-US" sz="2000" b="0" strike="noStrike" spc="-1">
              <a:latin typeface="Arial" panose="020B0604020202020204"/>
            </a:endParaRPr>
          </a:p>
        </p:txBody>
      </p:sp>
      <p:sp>
        <p:nvSpPr>
          <p:cNvPr id="67" name="Shape 23"/>
          <p:cNvSpPr/>
          <p:nvPr/>
        </p:nvSpPr>
        <p:spPr>
          <a:xfrm>
            <a:off x="4901040" y="1261800"/>
            <a:ext cx="3419640" cy="3071880"/>
          </a:xfrm>
          <a:prstGeom prst="roundRect">
            <a:avLst>
              <a:gd name="adj" fmla="val 2381"/>
            </a:avLst>
          </a:prstGeom>
          <a:noFill/>
          <a:ln w="12700" cap="sq">
            <a:solidFill>
              <a:srgbClr val="74B7FF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68" name="Shape 24"/>
          <p:cNvSpPr/>
          <p:nvPr/>
        </p:nvSpPr>
        <p:spPr>
          <a:xfrm>
            <a:off x="4901040" y="1261800"/>
            <a:ext cx="3419640" cy="411120"/>
          </a:xfrm>
          <a:prstGeom prst="roundRect">
            <a:avLst/>
          </a:prstGeom>
          <a:solidFill>
            <a:srgbClr val="EDF7FF"/>
          </a:solidFill>
          <a:ln w="12700">
            <a:solidFill>
              <a:srgbClr val="EDF7FF">
                <a:alpha val="0"/>
              </a:srgbClr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69" name="Text 25"/>
          <p:cNvSpPr/>
          <p:nvPr/>
        </p:nvSpPr>
        <p:spPr>
          <a:xfrm>
            <a:off x="5694680" y="1307465"/>
            <a:ext cx="1938020" cy="31051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97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10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DARE critic</a:t>
            </a:r>
            <a:endParaRPr lang="en-US" sz="2100" b="0" strike="noStrike" spc="-1">
              <a:latin typeface="Arial" panose="020B0604020202020204"/>
            </a:endParaRPr>
          </a:p>
        </p:txBody>
      </p:sp>
      <p:sp>
        <p:nvSpPr>
          <p:cNvPr id="70" name="Text 26"/>
          <p:cNvSpPr/>
          <p:nvPr/>
        </p:nvSpPr>
        <p:spPr>
          <a:xfrm>
            <a:off x="4867330" y="1774080"/>
            <a:ext cx="69444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6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semantic</a:t>
            </a:r>
            <a:endParaRPr lang="en-US" sz="1160" b="0" strike="noStrike" spc="-1">
              <a:latin typeface="Arial" panose="020B0604020202020204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6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blocks</a:t>
            </a:r>
            <a:endParaRPr lang="en-US" sz="1160" b="0" strike="noStrike" spc="-1">
              <a:latin typeface="Arial" panose="020B0604020202020204"/>
            </a:endParaRPr>
          </a:p>
        </p:txBody>
      </p:sp>
      <p:sp>
        <p:nvSpPr>
          <p:cNvPr id="72" name="Text 28"/>
          <p:cNvSpPr/>
          <p:nvPr/>
        </p:nvSpPr>
        <p:spPr>
          <a:xfrm>
            <a:off x="6189980" y="1774190"/>
            <a:ext cx="1116965" cy="4019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4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same</a:t>
            </a:r>
            <a:endParaRPr lang="en-US" sz="1140" b="0" strike="noStrike" spc="-1">
              <a:latin typeface="Arial" panose="020B0604020202020204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4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latent width</a:t>
            </a:r>
            <a:endParaRPr lang="en-US" sz="1140" b="0" strike="noStrike" spc="-1">
              <a:latin typeface="Arial" panose="020B0604020202020204"/>
            </a:endParaRPr>
          </a:p>
        </p:txBody>
      </p:sp>
      <p:sp>
        <p:nvSpPr>
          <p:cNvPr id="73" name="Shape 29"/>
          <p:cNvSpPr/>
          <p:nvPr/>
        </p:nvSpPr>
        <p:spPr>
          <a:xfrm>
            <a:off x="4958770" y="2304360"/>
            <a:ext cx="456840" cy="209880"/>
          </a:xfrm>
          <a:prstGeom prst="rect">
            <a:avLst/>
          </a:prstGeom>
          <a:solidFill>
            <a:srgbClr val="F26A1B">
              <a:alpha val="30000"/>
            </a:srgbClr>
          </a:solidFill>
          <a:ln w="10160">
            <a:solidFill>
              <a:srgbClr val="F26A1B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74" name="Shape 30"/>
          <p:cNvSpPr/>
          <p:nvPr/>
        </p:nvSpPr>
        <p:spPr>
          <a:xfrm>
            <a:off x="5443330" y="2409120"/>
            <a:ext cx="21960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75" name="Shape 31"/>
          <p:cNvSpPr/>
          <p:nvPr/>
        </p:nvSpPr>
        <p:spPr>
          <a:xfrm>
            <a:off x="4958770" y="2651760"/>
            <a:ext cx="383760" cy="209880"/>
          </a:xfrm>
          <a:prstGeom prst="rect">
            <a:avLst/>
          </a:prstGeom>
          <a:solidFill>
            <a:srgbClr val="4DA0F5">
              <a:alpha val="30000"/>
            </a:srgbClr>
          </a:solidFill>
          <a:ln w="10160">
            <a:solidFill>
              <a:srgbClr val="4DA0F5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76" name="Shape 32"/>
          <p:cNvSpPr/>
          <p:nvPr/>
        </p:nvSpPr>
        <p:spPr>
          <a:xfrm>
            <a:off x="5443330" y="2756880"/>
            <a:ext cx="21960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77" name="Shape 33"/>
          <p:cNvSpPr/>
          <p:nvPr/>
        </p:nvSpPr>
        <p:spPr>
          <a:xfrm>
            <a:off x="4958770" y="2999160"/>
            <a:ext cx="264960" cy="209880"/>
          </a:xfrm>
          <a:prstGeom prst="rect">
            <a:avLst/>
          </a:prstGeom>
          <a:solidFill>
            <a:srgbClr val="6ACB8A">
              <a:alpha val="30000"/>
            </a:srgbClr>
          </a:solidFill>
          <a:ln w="10160">
            <a:solidFill>
              <a:srgbClr val="6ACB8A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78" name="Shape 34"/>
          <p:cNvSpPr/>
          <p:nvPr/>
        </p:nvSpPr>
        <p:spPr>
          <a:xfrm>
            <a:off x="5443330" y="3104280"/>
            <a:ext cx="21960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79" name="Shape 35"/>
          <p:cNvSpPr/>
          <p:nvPr/>
        </p:nvSpPr>
        <p:spPr>
          <a:xfrm>
            <a:off x="4958770" y="3346560"/>
            <a:ext cx="420120" cy="209880"/>
          </a:xfrm>
          <a:prstGeom prst="rect">
            <a:avLst/>
          </a:prstGeom>
          <a:solidFill>
            <a:srgbClr val="A772E8">
              <a:alpha val="30000"/>
            </a:srgbClr>
          </a:solidFill>
          <a:ln w="10160">
            <a:solidFill>
              <a:srgbClr val="A772E8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80" name="Shape 36"/>
          <p:cNvSpPr/>
          <p:nvPr/>
        </p:nvSpPr>
        <p:spPr>
          <a:xfrm>
            <a:off x="5443330" y="3451680"/>
            <a:ext cx="21960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81" name="Shape 37"/>
          <p:cNvSpPr/>
          <p:nvPr/>
        </p:nvSpPr>
        <p:spPr>
          <a:xfrm>
            <a:off x="4958770" y="3694320"/>
            <a:ext cx="273960" cy="209880"/>
          </a:xfrm>
          <a:prstGeom prst="rect">
            <a:avLst/>
          </a:prstGeom>
          <a:solidFill>
            <a:srgbClr val="F2A51A">
              <a:alpha val="30000"/>
            </a:srgbClr>
          </a:solidFill>
          <a:ln w="10160">
            <a:solidFill>
              <a:srgbClr val="F2A51A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82" name="Shape 38"/>
          <p:cNvSpPr/>
          <p:nvPr/>
        </p:nvSpPr>
        <p:spPr>
          <a:xfrm>
            <a:off x="5443330" y="3799080"/>
            <a:ext cx="21960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83" name="Text 39"/>
          <p:cNvSpPr/>
          <p:nvPr/>
        </p:nvSpPr>
        <p:spPr>
          <a:xfrm>
            <a:off x="5034860" y="393192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50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111111"/>
                </a:solidFill>
                <a:latin typeface="Times New Roman" panose="02020603050405020304"/>
                <a:ea typeface="Arial" panose="020B0604020202020204"/>
              </a:rPr>
              <a:t>⋮</a:t>
            </a:r>
            <a:endParaRPr lang="en-US" sz="2000" b="0" strike="noStrike" spc="-1">
              <a:latin typeface="Arial" panose="020B0604020202020204"/>
            </a:endParaRPr>
          </a:p>
        </p:txBody>
      </p:sp>
      <p:sp>
        <p:nvSpPr>
          <p:cNvPr id="84" name="Shape 40"/>
          <p:cNvSpPr/>
          <p:nvPr/>
        </p:nvSpPr>
        <p:spPr>
          <a:xfrm>
            <a:off x="5683885" y="2194560"/>
            <a:ext cx="436245" cy="1764665"/>
          </a:xfrm>
          <a:prstGeom prst="rect">
            <a:avLst/>
          </a:prstGeom>
          <a:solidFill>
            <a:srgbClr val="F3F4F6"/>
          </a:solidFill>
          <a:ln w="12700">
            <a:solidFill>
              <a:srgbClr val="5E7898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vert="eaVert" anchor="ctr" anchorCtr="0"/>
          <a:p>
            <a:pPr algn="ctr"/>
            <a:r>
              <a:rPr lang="en-US" sz="1000" b="1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  <a:sym typeface="+mn-ea"/>
              </a:rPr>
              <a:t>semantic block projection</a:t>
            </a:r>
            <a:endParaRPr lang="zh-CN" altLang="en-US" sz="1000"/>
          </a:p>
        </p:txBody>
      </p:sp>
      <p:sp>
        <p:nvSpPr>
          <p:cNvPr id="85" name="Shape 41"/>
          <p:cNvSpPr/>
          <p:nvPr/>
        </p:nvSpPr>
        <p:spPr>
          <a:xfrm>
            <a:off x="6191885" y="2409120"/>
            <a:ext cx="30168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86" name="Shape 42"/>
          <p:cNvSpPr/>
          <p:nvPr/>
        </p:nvSpPr>
        <p:spPr>
          <a:xfrm>
            <a:off x="6576005" y="2304360"/>
            <a:ext cx="164160" cy="209880"/>
          </a:xfrm>
          <a:prstGeom prst="rect">
            <a:avLst/>
          </a:prstGeom>
          <a:solidFill>
            <a:srgbClr val="D9ECFF"/>
          </a:solidFill>
          <a:ln w="11430">
            <a:solidFill>
              <a:srgbClr val="74B7FF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87" name="Shape 43"/>
          <p:cNvSpPr/>
          <p:nvPr/>
        </p:nvSpPr>
        <p:spPr>
          <a:xfrm>
            <a:off x="6191885" y="2756880"/>
            <a:ext cx="30168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88" name="Shape 44"/>
          <p:cNvSpPr/>
          <p:nvPr/>
        </p:nvSpPr>
        <p:spPr>
          <a:xfrm>
            <a:off x="6576005" y="2651760"/>
            <a:ext cx="164160" cy="209880"/>
          </a:xfrm>
          <a:prstGeom prst="rect">
            <a:avLst/>
          </a:prstGeom>
          <a:solidFill>
            <a:srgbClr val="D9ECFF"/>
          </a:solidFill>
          <a:ln w="11430">
            <a:solidFill>
              <a:srgbClr val="74B7FF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89" name="Shape 45"/>
          <p:cNvSpPr/>
          <p:nvPr/>
        </p:nvSpPr>
        <p:spPr>
          <a:xfrm>
            <a:off x="6191885" y="3104280"/>
            <a:ext cx="30168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90" name="Shape 46"/>
          <p:cNvSpPr/>
          <p:nvPr/>
        </p:nvSpPr>
        <p:spPr>
          <a:xfrm>
            <a:off x="6576005" y="2999160"/>
            <a:ext cx="164160" cy="209880"/>
          </a:xfrm>
          <a:prstGeom prst="rect">
            <a:avLst/>
          </a:prstGeom>
          <a:solidFill>
            <a:srgbClr val="D9ECFF"/>
          </a:solidFill>
          <a:ln w="11430">
            <a:solidFill>
              <a:srgbClr val="74B7FF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91" name="Shape 47"/>
          <p:cNvSpPr/>
          <p:nvPr/>
        </p:nvSpPr>
        <p:spPr>
          <a:xfrm>
            <a:off x="6191885" y="3451680"/>
            <a:ext cx="30168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92" name="Shape 48"/>
          <p:cNvSpPr/>
          <p:nvPr/>
        </p:nvSpPr>
        <p:spPr>
          <a:xfrm>
            <a:off x="6576005" y="3346560"/>
            <a:ext cx="164160" cy="209880"/>
          </a:xfrm>
          <a:prstGeom prst="rect">
            <a:avLst/>
          </a:prstGeom>
          <a:solidFill>
            <a:srgbClr val="D9ECFF"/>
          </a:solidFill>
          <a:ln w="11430">
            <a:solidFill>
              <a:srgbClr val="74B7FF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93" name="Shape 49"/>
          <p:cNvSpPr/>
          <p:nvPr/>
        </p:nvSpPr>
        <p:spPr>
          <a:xfrm>
            <a:off x="6191885" y="3799080"/>
            <a:ext cx="30168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94" name="Shape 50"/>
          <p:cNvSpPr/>
          <p:nvPr/>
        </p:nvSpPr>
        <p:spPr>
          <a:xfrm>
            <a:off x="6576005" y="3694320"/>
            <a:ext cx="164160" cy="209880"/>
          </a:xfrm>
          <a:prstGeom prst="rect">
            <a:avLst/>
          </a:prstGeom>
          <a:solidFill>
            <a:srgbClr val="D9ECFF"/>
          </a:solidFill>
          <a:ln w="11430">
            <a:solidFill>
              <a:srgbClr val="74B7FF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95" name="Text 51"/>
          <p:cNvSpPr/>
          <p:nvPr/>
        </p:nvSpPr>
        <p:spPr>
          <a:xfrm>
            <a:off x="6577330" y="393192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50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111111"/>
                </a:solidFill>
                <a:latin typeface="Times New Roman" panose="02020603050405020304"/>
                <a:ea typeface="Arial" panose="020B0604020202020204"/>
              </a:rPr>
              <a:t>⋮</a:t>
            </a:r>
            <a:endParaRPr lang="en-US" sz="2000" b="0" strike="noStrike" spc="-1">
              <a:latin typeface="Arial" panose="020B0604020202020204"/>
            </a:endParaRPr>
          </a:p>
        </p:txBody>
      </p:sp>
      <p:sp>
        <p:nvSpPr>
          <p:cNvPr id="96" name="Shape 52"/>
          <p:cNvSpPr/>
          <p:nvPr/>
        </p:nvSpPr>
        <p:spPr>
          <a:xfrm>
            <a:off x="7059295" y="2541905"/>
            <a:ext cx="715010" cy="1078865"/>
          </a:xfrm>
          <a:prstGeom prst="roundRect">
            <a:avLst>
              <a:gd name="adj" fmla="val 8108"/>
            </a:avLst>
          </a:prstGeom>
          <a:solidFill>
            <a:srgbClr val="F8FAFC"/>
          </a:solidFill>
          <a:ln w="11430">
            <a:solidFill>
              <a:srgbClr val="839AB5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97" name="Text 53"/>
          <p:cNvSpPr/>
          <p:nvPr/>
        </p:nvSpPr>
        <p:spPr>
          <a:xfrm>
            <a:off x="7095490" y="2688590"/>
            <a:ext cx="650240" cy="39306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99000" lnSpcReduction="10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8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shared</a:t>
            </a:r>
            <a:endParaRPr lang="en-US" sz="1280" b="0" strike="noStrike" spc="-1">
              <a:latin typeface="Arial" panose="020B0604020202020204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8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network</a:t>
            </a:r>
            <a:endParaRPr lang="en-US" sz="1280" b="0" strike="noStrike" spc="-1">
              <a:latin typeface="Arial" panose="020B0604020202020204"/>
            </a:endParaRPr>
          </a:p>
        </p:txBody>
      </p:sp>
      <p:sp>
        <p:nvSpPr>
          <p:cNvPr id="98" name="Text 54"/>
          <p:cNvSpPr/>
          <p:nvPr/>
        </p:nvSpPr>
        <p:spPr>
          <a:xfrm>
            <a:off x="7095490" y="3227705"/>
            <a:ext cx="603250" cy="23749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94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60" b="0" strike="noStrike" spc="-1">
                <a:solidFill>
                  <a:srgbClr val="536C8E"/>
                </a:solidFill>
                <a:latin typeface="Times New Roman" panose="02020603050405020304"/>
                <a:ea typeface="Arial" panose="020B0604020202020204"/>
              </a:rPr>
              <a:t>spectral norm</a:t>
            </a:r>
            <a:endParaRPr lang="en-US" sz="860" b="0" strike="noStrike" spc="-1">
              <a:latin typeface="Arial" panose="020B0604020202020204"/>
            </a:endParaRPr>
          </a:p>
        </p:txBody>
      </p:sp>
      <p:sp>
        <p:nvSpPr>
          <p:cNvPr id="99" name="Shape 55"/>
          <p:cNvSpPr/>
          <p:nvPr/>
        </p:nvSpPr>
        <p:spPr>
          <a:xfrm>
            <a:off x="6759685" y="3081765"/>
            <a:ext cx="23760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00" name="Shape 56"/>
          <p:cNvSpPr/>
          <p:nvPr/>
        </p:nvSpPr>
        <p:spPr>
          <a:xfrm>
            <a:off x="7807435" y="3072240"/>
            <a:ext cx="219600" cy="360"/>
          </a:xfrm>
          <a:prstGeom prst="line">
            <a:avLst/>
          </a:prstGeom>
          <a:ln w="12700">
            <a:solidFill>
              <a:srgbClr val="4A6482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01" name="Shape 57"/>
          <p:cNvSpPr/>
          <p:nvPr/>
        </p:nvSpPr>
        <p:spPr>
          <a:xfrm>
            <a:off x="8063755" y="2962800"/>
            <a:ext cx="219240" cy="219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2306F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02" name="Text 58"/>
          <p:cNvSpPr/>
          <p:nvPr/>
        </p:nvSpPr>
        <p:spPr>
          <a:xfrm>
            <a:off x="7844155" y="2541960"/>
            <a:ext cx="5482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93000" lnSpcReduction="10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50" b="0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score</a:t>
            </a:r>
            <a:endParaRPr lang="en-US" sz="1350" b="0" strike="noStrike" spc="-1">
              <a:latin typeface="Arial" panose="020B0604020202020204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50" b="0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f(Δ)</a:t>
            </a:r>
            <a:endParaRPr lang="en-US" sz="1350" b="0" strike="noStrike" spc="-1">
              <a:latin typeface="Arial" panose="020B0604020202020204"/>
            </a:endParaRPr>
          </a:p>
        </p:txBody>
      </p:sp>
      <p:sp>
        <p:nvSpPr>
          <p:cNvPr id="103" name="Shape 59"/>
          <p:cNvSpPr/>
          <p:nvPr/>
        </p:nvSpPr>
        <p:spPr>
          <a:xfrm>
            <a:off x="4718160" y="2606040"/>
            <a:ext cx="182880" cy="360"/>
          </a:xfrm>
          <a:prstGeom prst="line">
            <a:avLst/>
          </a:prstGeom>
          <a:ln w="15240">
            <a:solidFill>
              <a:srgbClr val="FF1717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04" name="Shape 60"/>
          <p:cNvSpPr/>
          <p:nvPr/>
        </p:nvSpPr>
        <p:spPr>
          <a:xfrm>
            <a:off x="4718160" y="3703320"/>
            <a:ext cx="182880" cy="360"/>
          </a:xfrm>
          <a:prstGeom prst="line">
            <a:avLst/>
          </a:prstGeom>
          <a:ln w="15240">
            <a:solidFill>
              <a:srgbClr val="20A047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06" name="Shape 62"/>
          <p:cNvSpPr/>
          <p:nvPr/>
        </p:nvSpPr>
        <p:spPr>
          <a:xfrm>
            <a:off x="8684895" y="1261745"/>
            <a:ext cx="3286125" cy="410845"/>
          </a:xfrm>
          <a:prstGeom prst="rect">
            <a:avLst/>
          </a:prstGeom>
          <a:solidFill>
            <a:srgbClr val="EDF7FF"/>
          </a:solidFill>
          <a:ln w="12700">
            <a:solidFill>
              <a:srgbClr val="EDF7FF">
                <a:alpha val="0"/>
              </a:srgbClr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07" name="Text 63"/>
          <p:cNvSpPr/>
          <p:nvPr/>
        </p:nvSpPr>
        <p:spPr>
          <a:xfrm>
            <a:off x="8732520" y="1307520"/>
            <a:ext cx="31086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97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10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Anchor calibration</a:t>
            </a:r>
            <a:endParaRPr lang="en-US" sz="2100" b="0" strike="noStrike" spc="-1">
              <a:latin typeface="Arial" panose="020B0604020202020204"/>
            </a:endParaRPr>
          </a:p>
        </p:txBody>
      </p:sp>
      <p:sp>
        <p:nvSpPr>
          <p:cNvPr id="108" name="Shape 64"/>
          <p:cNvSpPr/>
          <p:nvPr/>
        </p:nvSpPr>
        <p:spPr>
          <a:xfrm>
            <a:off x="8328715" y="3072240"/>
            <a:ext cx="347400" cy="360"/>
          </a:xfrm>
          <a:prstGeom prst="line">
            <a:avLst/>
          </a:prstGeom>
          <a:ln w="17780">
            <a:solidFill>
              <a:srgbClr val="0B73E0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09" name="Shape 209"/>
          <p:cNvSpPr/>
          <p:nvPr/>
        </p:nvSpPr>
        <p:spPr>
          <a:xfrm>
            <a:off x="10983595" y="3911600"/>
            <a:ext cx="938530" cy="767715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0160">
            <a:solidFill>
              <a:srgbClr val="AFC7E6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10" name="Shape 210"/>
          <p:cNvSpPr/>
          <p:nvPr/>
        </p:nvSpPr>
        <p:spPr>
          <a:xfrm>
            <a:off x="11042150" y="4010515"/>
            <a:ext cx="155160" cy="155160"/>
          </a:xfrm>
          <a:prstGeom prst="rect">
            <a:avLst/>
          </a:prstGeom>
          <a:solidFill>
            <a:srgbClr val="DFF6D9"/>
          </a:solidFill>
          <a:ln w="12700">
            <a:solidFill>
              <a:srgbClr val="DFF6D9">
                <a:alpha val="0"/>
              </a:srgbClr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11" name="Text 211"/>
          <p:cNvSpPr/>
          <p:nvPr/>
        </p:nvSpPr>
        <p:spPr>
          <a:xfrm>
            <a:off x="11261390" y="3983515"/>
            <a:ext cx="63972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/>
          </a:bodyPr>
          <a:p>
            <a:pPr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40" b="0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response band</a:t>
            </a:r>
            <a:endParaRPr lang="en-US" sz="840" b="0" strike="noStrike" spc="-1">
              <a:latin typeface="Arial" panose="020B0604020202020204"/>
            </a:endParaRPr>
          </a:p>
        </p:txBody>
      </p:sp>
      <p:sp>
        <p:nvSpPr>
          <p:cNvPr id="112" name="Shape 212"/>
          <p:cNvSpPr/>
          <p:nvPr/>
        </p:nvSpPr>
        <p:spPr>
          <a:xfrm>
            <a:off x="11064830" y="4280155"/>
            <a:ext cx="100080" cy="100080"/>
          </a:xfrm>
          <a:prstGeom prst="ellipse">
            <a:avLst/>
          </a:prstGeom>
          <a:solidFill>
            <a:srgbClr val="FF1717"/>
          </a:solidFill>
          <a:ln w="4445">
            <a:solidFill>
              <a:srgbClr val="FFFFFF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13" name="Text 213"/>
          <p:cNvSpPr/>
          <p:nvPr/>
        </p:nvSpPr>
        <p:spPr>
          <a:xfrm>
            <a:off x="11261390" y="4230475"/>
            <a:ext cx="63972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92000"/>
          </a:bodyPr>
          <a:p>
            <a:pPr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40" b="0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policy residual</a:t>
            </a:r>
            <a:endParaRPr lang="en-US" sz="840" b="0" strike="noStrike" spc="-1">
              <a:latin typeface="Arial" panose="020B0604020202020204"/>
            </a:endParaRPr>
          </a:p>
        </p:txBody>
      </p:sp>
      <p:sp>
        <p:nvSpPr>
          <p:cNvPr id="114" name="Shape 214"/>
          <p:cNvSpPr/>
          <p:nvPr/>
        </p:nvSpPr>
        <p:spPr>
          <a:xfrm>
            <a:off x="11064830" y="4508755"/>
            <a:ext cx="100080" cy="100080"/>
          </a:xfrm>
          <a:prstGeom prst="ellipse">
            <a:avLst/>
          </a:prstGeom>
          <a:solidFill>
            <a:srgbClr val="0B73E0"/>
          </a:solidFill>
          <a:ln w="4445">
            <a:solidFill>
              <a:srgbClr val="FFFFFF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15" name="Text 215"/>
          <p:cNvSpPr/>
          <p:nvPr/>
        </p:nvSpPr>
        <p:spPr>
          <a:xfrm>
            <a:off x="11261390" y="4459075"/>
            <a:ext cx="63972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/>
          </a:bodyPr>
          <a:p>
            <a:pPr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40" b="0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anchor</a:t>
            </a:r>
            <a:endParaRPr lang="en-US" sz="840" b="0" strike="noStrike" spc="-1">
              <a:latin typeface="Arial" panose="020B0604020202020204"/>
            </a:endParaRPr>
          </a:p>
        </p:txBody>
      </p:sp>
      <p:sp>
        <p:nvSpPr>
          <p:cNvPr id="116" name="Text 216"/>
          <p:cNvSpPr/>
          <p:nvPr/>
        </p:nvSpPr>
        <p:spPr>
          <a:xfrm>
            <a:off x="9429695" y="4874370"/>
            <a:ext cx="239544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lang="en-US" sz="1500" b="0" strike="noStrike" spc="-1">
                <a:solidFill>
                  <a:srgbClr val="000000"/>
                </a:solidFill>
                <a:latin typeface="Times New Roman" panose="02020603050405020304"/>
              </a:rPr>
              <a:t>rₜ = β softplus(f(Δₜ))</a:t>
            </a:r>
            <a:endParaRPr lang="en-US" sz="1500" b="0" strike="noStrike" spc="-1">
              <a:latin typeface="Arial" panose="020B0604020202020204"/>
            </a:endParaRPr>
          </a:p>
        </p:txBody>
      </p:sp>
      <p:sp>
        <p:nvSpPr>
          <p:cNvPr id="117" name="Shape 218"/>
          <p:cNvSpPr/>
          <p:nvPr/>
        </p:nvSpPr>
        <p:spPr>
          <a:xfrm>
            <a:off x="9848160" y="5303520"/>
            <a:ext cx="1645560" cy="383760"/>
          </a:xfrm>
          <a:prstGeom prst="roundRect">
            <a:avLst>
              <a:gd name="adj" fmla="val 11905"/>
            </a:avLst>
          </a:prstGeom>
          <a:solidFill>
            <a:srgbClr val="EAF4FF"/>
          </a:solidFill>
          <a:ln w="12700">
            <a:solidFill>
              <a:srgbClr val="0B73E0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18" name="Text 219"/>
          <p:cNvSpPr/>
          <p:nvPr/>
        </p:nvSpPr>
        <p:spPr>
          <a:xfrm>
            <a:off x="9893880" y="5367600"/>
            <a:ext cx="155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94000" lnSpcReduction="10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12306F"/>
                </a:solidFill>
                <a:latin typeface="Times New Roman" panose="02020603050405020304"/>
                <a:ea typeface="Arial" panose="020B0604020202020204"/>
              </a:rPr>
              <a:t>PPO update</a:t>
            </a:r>
            <a:endParaRPr lang="en-US" sz="1600" b="0" strike="noStrike" spc="-1">
              <a:latin typeface="Arial" panose="020B0604020202020204"/>
            </a:endParaRPr>
          </a:p>
        </p:txBody>
      </p:sp>
      <p:sp>
        <p:nvSpPr>
          <p:cNvPr id="119" name="Shape 220"/>
          <p:cNvSpPr/>
          <p:nvPr/>
        </p:nvSpPr>
        <p:spPr>
          <a:xfrm>
            <a:off x="10671175" y="4754245"/>
            <a:ext cx="635" cy="172085"/>
          </a:xfrm>
          <a:prstGeom prst="line">
            <a:avLst/>
          </a:prstGeom>
          <a:ln w="30480">
            <a:solidFill>
              <a:srgbClr val="0B73E0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20" name="Shape 221"/>
          <p:cNvSpPr/>
          <p:nvPr/>
        </p:nvSpPr>
        <p:spPr>
          <a:xfrm flipH="1">
            <a:off x="987480" y="5806440"/>
            <a:ext cx="9683280" cy="360"/>
          </a:xfrm>
          <a:prstGeom prst="line">
            <a:avLst/>
          </a:prstGeom>
          <a:ln w="30480">
            <a:solidFill>
              <a:srgbClr val="0B73E0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21" name="Shape 222"/>
          <p:cNvSpPr/>
          <p:nvPr/>
        </p:nvSpPr>
        <p:spPr>
          <a:xfrm flipH="1" flipV="1">
            <a:off x="978535" y="4352290"/>
            <a:ext cx="2540" cy="1454785"/>
          </a:xfrm>
          <a:prstGeom prst="line">
            <a:avLst/>
          </a:prstGeom>
          <a:ln w="30480">
            <a:solidFill>
              <a:srgbClr val="0B73E0"/>
            </a:solidFill>
            <a:round/>
            <a:tailEnd type="triangl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  <p:sp>
        <p:nvSpPr>
          <p:cNvPr id="122" name="Text 223"/>
          <p:cNvSpPr/>
          <p:nvPr/>
        </p:nvSpPr>
        <p:spPr>
          <a:xfrm>
            <a:off x="5413320" y="5559480"/>
            <a:ext cx="1554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13680" tIns="0" rIns="13680" bIns="0" anchor="ctr">
            <a:normAutofit fontScale="94000" lnSpcReduction="10000"/>
          </a:bodyPr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0B73E0"/>
                </a:solidFill>
                <a:latin typeface="Times New Roman" panose="02020603050405020304"/>
                <a:ea typeface="Arial" panose="020B0604020202020204"/>
              </a:rPr>
              <a:t>update policy  π</a:t>
            </a:r>
            <a:endParaRPr lang="en-US" sz="1600" b="0" strike="noStrike" spc="-1">
              <a:latin typeface="Arial" panose="020B0604020202020204"/>
            </a:endParaRPr>
          </a:p>
        </p:txBody>
      </p:sp>
      <p:sp>
        <p:nvSpPr>
          <p:cNvPr id="123" name="TextBox 227"/>
          <p:cNvSpPr/>
          <p:nvPr/>
        </p:nvSpPr>
        <p:spPr>
          <a:xfrm>
            <a:off x="8910720" y="1790280"/>
            <a:ext cx="996120" cy="213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17365D"/>
                </a:solidFill>
                <a:latin typeface="Times New Roman" panose="02020603050405020304"/>
              </a:rPr>
              <a:t>gap too large</a:t>
            </a:r>
            <a:endParaRPr lang="en-US" sz="1400" b="0" strike="noStrike" spc="-1">
              <a:latin typeface="Arial" panose="020B0604020202020204"/>
            </a:endParaRPr>
          </a:p>
        </p:txBody>
      </p:sp>
      <p:sp>
        <p:nvSpPr>
          <p:cNvPr id="124" name="TextBox 228"/>
          <p:cNvSpPr/>
          <p:nvPr/>
        </p:nvSpPr>
        <p:spPr>
          <a:xfrm>
            <a:off x="10501200" y="1790280"/>
            <a:ext cx="1015920" cy="213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17365D"/>
                </a:solidFill>
                <a:latin typeface="Times New Roman" panose="02020603050405020304"/>
              </a:rPr>
              <a:t>gap too small</a:t>
            </a:r>
            <a:endParaRPr lang="en-US" sz="1400" b="0" strike="noStrike" spc="-1">
              <a:latin typeface="Arial" panose="020B0604020202020204"/>
            </a:endParaRPr>
          </a:p>
        </p:txBody>
      </p:sp>
      <p:sp>
        <p:nvSpPr>
          <p:cNvPr id="125" name="Rectangle 229"/>
          <p:cNvSpPr/>
          <p:nvPr/>
        </p:nvSpPr>
        <p:spPr>
          <a:xfrm>
            <a:off x="9079200" y="2148840"/>
            <a:ext cx="595800" cy="703800"/>
          </a:xfrm>
          <a:prstGeom prst="rect">
            <a:avLst/>
          </a:prstGeom>
          <a:solidFill>
            <a:srgbClr val="DCE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6" name="Connector 230"/>
          <p:cNvSpPr/>
          <p:nvPr/>
        </p:nvSpPr>
        <p:spPr>
          <a:xfrm>
            <a:off x="8796240" y="2852640"/>
            <a:ext cx="1207080" cy="360"/>
          </a:xfrm>
          <a:prstGeom prst="line">
            <a:avLst/>
          </a:prstGeom>
          <a:ln>
            <a:solidFill>
              <a:srgbClr val="22222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27" name="Connector 231"/>
          <p:cNvSpPr/>
          <p:nvPr/>
        </p:nvSpPr>
        <p:spPr>
          <a:xfrm flipV="1">
            <a:off x="8796240" y="2125800"/>
            <a:ext cx="360" cy="726840"/>
          </a:xfrm>
          <a:prstGeom prst="line">
            <a:avLst/>
          </a:prstGeom>
          <a:ln>
            <a:solidFill>
              <a:srgbClr val="22222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3" name="Freeform 2"/>
          <p:cNvSpPr/>
          <p:nvPr/>
        </p:nvSpPr>
        <p:spPr>
          <a:xfrm>
            <a:off x="8796528" y="2212848"/>
            <a:ext cx="1161287" cy="607165"/>
          </a:xfrm>
          <a:custGeom>
            <a:avLst/>
            <a:gdLst/>
            <a:ahLst/>
            <a:cxnLst/>
            <a:rect l="l" t="t" r="r" b="b"/>
            <a:pathLst>
              <a:path w="1161287" h="607165">
                <a:moveTo>
                  <a:pt x="0" y="607165"/>
                </a:moveTo>
                <a:lnTo>
                  <a:pt x="7258" y="606679"/>
                </a:lnTo>
                <a:lnTo>
                  <a:pt x="14516" y="606178"/>
                </a:lnTo>
                <a:lnTo>
                  <a:pt x="21774" y="605661"/>
                </a:lnTo>
                <a:lnTo>
                  <a:pt x="29032" y="605127"/>
                </a:lnTo>
                <a:lnTo>
                  <a:pt x="36290" y="604577"/>
                </a:lnTo>
                <a:lnTo>
                  <a:pt x="43548" y="604008"/>
                </a:lnTo>
                <a:lnTo>
                  <a:pt x="50806" y="603422"/>
                </a:lnTo>
                <a:lnTo>
                  <a:pt x="58064" y="602818"/>
                </a:lnTo>
                <a:lnTo>
                  <a:pt x="65322" y="602194"/>
                </a:lnTo>
                <a:lnTo>
                  <a:pt x="72580" y="601551"/>
                </a:lnTo>
                <a:lnTo>
                  <a:pt x="79838" y="600887"/>
                </a:lnTo>
                <a:lnTo>
                  <a:pt x="87096" y="600203"/>
                </a:lnTo>
                <a:lnTo>
                  <a:pt x="94354" y="599497"/>
                </a:lnTo>
                <a:lnTo>
                  <a:pt x="101612" y="598770"/>
                </a:lnTo>
                <a:lnTo>
                  <a:pt x="108870" y="598020"/>
                </a:lnTo>
                <a:lnTo>
                  <a:pt x="116128" y="597247"/>
                </a:lnTo>
                <a:lnTo>
                  <a:pt x="123386" y="596450"/>
                </a:lnTo>
                <a:lnTo>
                  <a:pt x="130644" y="595629"/>
                </a:lnTo>
                <a:lnTo>
                  <a:pt x="137902" y="594783"/>
                </a:lnTo>
                <a:lnTo>
                  <a:pt x="145160" y="593911"/>
                </a:lnTo>
                <a:lnTo>
                  <a:pt x="152419" y="593013"/>
                </a:lnTo>
                <a:lnTo>
                  <a:pt x="159677" y="592088"/>
                </a:lnTo>
                <a:lnTo>
                  <a:pt x="166935" y="591135"/>
                </a:lnTo>
                <a:lnTo>
                  <a:pt x="174193" y="590153"/>
                </a:lnTo>
                <a:lnTo>
                  <a:pt x="181451" y="589142"/>
                </a:lnTo>
                <a:lnTo>
                  <a:pt x="188709" y="588101"/>
                </a:lnTo>
                <a:lnTo>
                  <a:pt x="195967" y="587030"/>
                </a:lnTo>
                <a:lnTo>
                  <a:pt x="203225" y="585927"/>
                </a:lnTo>
                <a:lnTo>
                  <a:pt x="210483" y="584792"/>
                </a:lnTo>
                <a:lnTo>
                  <a:pt x="217741" y="583624"/>
                </a:lnTo>
                <a:lnTo>
                  <a:pt x="224999" y="582422"/>
                </a:lnTo>
                <a:lnTo>
                  <a:pt x="232257" y="581186"/>
                </a:lnTo>
                <a:lnTo>
                  <a:pt x="239515" y="579914"/>
                </a:lnTo>
                <a:lnTo>
                  <a:pt x="246773" y="578606"/>
                </a:lnTo>
                <a:lnTo>
                  <a:pt x="254031" y="577262"/>
                </a:lnTo>
                <a:lnTo>
                  <a:pt x="261289" y="575879"/>
                </a:lnTo>
                <a:lnTo>
                  <a:pt x="268547" y="574458"/>
                </a:lnTo>
                <a:lnTo>
                  <a:pt x="275805" y="572998"/>
                </a:lnTo>
                <a:lnTo>
                  <a:pt x="283063" y="571497"/>
                </a:lnTo>
                <a:lnTo>
                  <a:pt x="290322" y="569956"/>
                </a:lnTo>
                <a:lnTo>
                  <a:pt x="297580" y="568372"/>
                </a:lnTo>
                <a:lnTo>
                  <a:pt x="304838" y="566746"/>
                </a:lnTo>
                <a:lnTo>
                  <a:pt x="312096" y="565076"/>
                </a:lnTo>
                <a:lnTo>
                  <a:pt x="319354" y="563362"/>
                </a:lnTo>
                <a:lnTo>
                  <a:pt x="326612" y="561603"/>
                </a:lnTo>
                <a:lnTo>
                  <a:pt x="333870" y="559797"/>
                </a:lnTo>
                <a:lnTo>
                  <a:pt x="341128" y="557945"/>
                </a:lnTo>
                <a:lnTo>
                  <a:pt x="348386" y="556045"/>
                </a:lnTo>
                <a:lnTo>
                  <a:pt x="355644" y="554097"/>
                </a:lnTo>
                <a:lnTo>
                  <a:pt x="362902" y="552099"/>
                </a:lnTo>
                <a:lnTo>
                  <a:pt x="370160" y="550051"/>
                </a:lnTo>
                <a:lnTo>
                  <a:pt x="377418" y="547953"/>
                </a:lnTo>
                <a:lnTo>
                  <a:pt x="384676" y="545803"/>
                </a:lnTo>
                <a:lnTo>
                  <a:pt x="391934" y="543600"/>
                </a:lnTo>
                <a:lnTo>
                  <a:pt x="399192" y="541344"/>
                </a:lnTo>
                <a:lnTo>
                  <a:pt x="406450" y="539035"/>
                </a:lnTo>
                <a:lnTo>
                  <a:pt x="413708" y="536670"/>
                </a:lnTo>
                <a:lnTo>
                  <a:pt x="420966" y="534251"/>
                </a:lnTo>
                <a:lnTo>
                  <a:pt x="428224" y="531776"/>
                </a:lnTo>
                <a:lnTo>
                  <a:pt x="435483" y="529244"/>
                </a:lnTo>
                <a:lnTo>
                  <a:pt x="442741" y="526654"/>
                </a:lnTo>
                <a:lnTo>
                  <a:pt x="449999" y="524007"/>
                </a:lnTo>
                <a:lnTo>
                  <a:pt x="457257" y="521301"/>
                </a:lnTo>
                <a:lnTo>
                  <a:pt x="464515" y="518537"/>
                </a:lnTo>
                <a:lnTo>
                  <a:pt x="471773" y="515713"/>
                </a:lnTo>
                <a:lnTo>
                  <a:pt x="479031" y="512828"/>
                </a:lnTo>
                <a:lnTo>
                  <a:pt x="486289" y="509883"/>
                </a:lnTo>
                <a:lnTo>
                  <a:pt x="493547" y="506877"/>
                </a:lnTo>
                <a:lnTo>
                  <a:pt x="500805" y="503810"/>
                </a:lnTo>
                <a:lnTo>
                  <a:pt x="508063" y="500680"/>
                </a:lnTo>
                <a:lnTo>
                  <a:pt x="515321" y="497489"/>
                </a:lnTo>
                <a:lnTo>
                  <a:pt x="522579" y="494235"/>
                </a:lnTo>
                <a:lnTo>
                  <a:pt x="529837" y="490918"/>
                </a:lnTo>
                <a:lnTo>
                  <a:pt x="537095" y="487537"/>
                </a:lnTo>
                <a:lnTo>
                  <a:pt x="544353" y="484094"/>
                </a:lnTo>
                <a:lnTo>
                  <a:pt x="551611" y="480587"/>
                </a:lnTo>
                <a:lnTo>
                  <a:pt x="558869" y="477016"/>
                </a:lnTo>
                <a:lnTo>
                  <a:pt x="566127" y="473381"/>
                </a:lnTo>
                <a:lnTo>
                  <a:pt x="573385" y="469682"/>
                </a:lnTo>
                <a:lnTo>
                  <a:pt x="580644" y="465919"/>
                </a:lnTo>
                <a:lnTo>
                  <a:pt x="587902" y="462093"/>
                </a:lnTo>
                <a:lnTo>
                  <a:pt x="595160" y="458202"/>
                </a:lnTo>
                <a:lnTo>
                  <a:pt x="602418" y="454247"/>
                </a:lnTo>
                <a:lnTo>
                  <a:pt x="609676" y="450228"/>
                </a:lnTo>
                <a:lnTo>
                  <a:pt x="616934" y="446146"/>
                </a:lnTo>
                <a:lnTo>
                  <a:pt x="624192" y="442000"/>
                </a:lnTo>
                <a:lnTo>
                  <a:pt x="631450" y="437791"/>
                </a:lnTo>
                <a:lnTo>
                  <a:pt x="638708" y="433518"/>
                </a:lnTo>
                <a:lnTo>
                  <a:pt x="645966" y="429183"/>
                </a:lnTo>
                <a:lnTo>
                  <a:pt x="653224" y="424785"/>
                </a:lnTo>
                <a:lnTo>
                  <a:pt x="660482" y="420325"/>
                </a:lnTo>
                <a:lnTo>
                  <a:pt x="667740" y="415802"/>
                </a:lnTo>
                <a:lnTo>
                  <a:pt x="674998" y="411219"/>
                </a:lnTo>
                <a:lnTo>
                  <a:pt x="682256" y="406574"/>
                </a:lnTo>
                <a:lnTo>
                  <a:pt x="689514" y="401869"/>
                </a:lnTo>
                <a:lnTo>
                  <a:pt x="696772" y="397104"/>
                </a:lnTo>
                <a:lnTo>
                  <a:pt x="704030" y="392279"/>
                </a:lnTo>
                <a:lnTo>
                  <a:pt x="711288" y="387395"/>
                </a:lnTo>
                <a:lnTo>
                  <a:pt x="718546" y="382453"/>
                </a:lnTo>
                <a:lnTo>
                  <a:pt x="725804" y="377452"/>
                </a:lnTo>
                <a:lnTo>
                  <a:pt x="733063" y="372395"/>
                </a:lnTo>
                <a:lnTo>
                  <a:pt x="740321" y="367281"/>
                </a:lnTo>
                <a:lnTo>
                  <a:pt x="747579" y="362110"/>
                </a:lnTo>
                <a:lnTo>
                  <a:pt x="754837" y="356885"/>
                </a:lnTo>
                <a:lnTo>
                  <a:pt x="762095" y="351605"/>
                </a:lnTo>
                <a:lnTo>
                  <a:pt x="769353" y="346271"/>
                </a:lnTo>
                <a:lnTo>
                  <a:pt x="776611" y="340884"/>
                </a:lnTo>
                <a:lnTo>
                  <a:pt x="783869" y="335445"/>
                </a:lnTo>
                <a:lnTo>
                  <a:pt x="791127" y="329954"/>
                </a:lnTo>
                <a:lnTo>
                  <a:pt x="798385" y="324412"/>
                </a:lnTo>
                <a:lnTo>
                  <a:pt x="805643" y="318820"/>
                </a:lnTo>
                <a:lnTo>
                  <a:pt x="812901" y="313179"/>
                </a:lnTo>
                <a:lnTo>
                  <a:pt x="820159" y="307489"/>
                </a:lnTo>
                <a:lnTo>
                  <a:pt x="827417" y="301752"/>
                </a:lnTo>
                <a:lnTo>
                  <a:pt x="834675" y="295968"/>
                </a:lnTo>
                <a:lnTo>
                  <a:pt x="841933" y="290138"/>
                </a:lnTo>
                <a:lnTo>
                  <a:pt x="849191" y="284262"/>
                </a:lnTo>
                <a:lnTo>
                  <a:pt x="856449" y="278342"/>
                </a:lnTo>
                <a:lnTo>
                  <a:pt x="863707" y="272379"/>
                </a:lnTo>
                <a:lnTo>
                  <a:pt x="870966" y="266373"/>
                </a:lnTo>
                <a:lnTo>
                  <a:pt x="878224" y="260325"/>
                </a:lnTo>
                <a:lnTo>
                  <a:pt x="885482" y="254236"/>
                </a:lnTo>
                <a:lnTo>
                  <a:pt x="892740" y="248107"/>
                </a:lnTo>
                <a:lnTo>
                  <a:pt x="899998" y="241938"/>
                </a:lnTo>
                <a:lnTo>
                  <a:pt x="907256" y="235731"/>
                </a:lnTo>
                <a:lnTo>
                  <a:pt x="914514" y="229486"/>
                </a:lnTo>
                <a:lnTo>
                  <a:pt x="921772" y="223205"/>
                </a:lnTo>
                <a:lnTo>
                  <a:pt x="929030" y="216887"/>
                </a:lnTo>
                <a:lnTo>
                  <a:pt x="936288" y="210533"/>
                </a:lnTo>
                <a:lnTo>
                  <a:pt x="943546" y="204146"/>
                </a:lnTo>
                <a:lnTo>
                  <a:pt x="950804" y="197724"/>
                </a:lnTo>
                <a:lnTo>
                  <a:pt x="958062" y="191270"/>
                </a:lnTo>
                <a:lnTo>
                  <a:pt x="965320" y="184783"/>
                </a:lnTo>
                <a:lnTo>
                  <a:pt x="972578" y="178265"/>
                </a:lnTo>
                <a:lnTo>
                  <a:pt x="979836" y="171716"/>
                </a:lnTo>
                <a:lnTo>
                  <a:pt x="987094" y="165137"/>
                </a:lnTo>
                <a:lnTo>
                  <a:pt x="994352" y="158529"/>
                </a:lnTo>
                <a:lnTo>
                  <a:pt x="1001610" y="151893"/>
                </a:lnTo>
                <a:lnTo>
                  <a:pt x="1008868" y="145229"/>
                </a:lnTo>
                <a:lnTo>
                  <a:pt x="1016127" y="138537"/>
                </a:lnTo>
                <a:lnTo>
                  <a:pt x="1023385" y="131820"/>
                </a:lnTo>
                <a:lnTo>
                  <a:pt x="1030643" y="125076"/>
                </a:lnTo>
                <a:lnTo>
                  <a:pt x="1037901" y="118308"/>
                </a:lnTo>
                <a:lnTo>
                  <a:pt x="1045159" y="111515"/>
                </a:lnTo>
                <a:lnTo>
                  <a:pt x="1052417" y="104698"/>
                </a:lnTo>
                <a:lnTo>
                  <a:pt x="1059675" y="97859"/>
                </a:lnTo>
                <a:lnTo>
                  <a:pt x="1066933" y="90997"/>
                </a:lnTo>
                <a:lnTo>
                  <a:pt x="1074191" y="84112"/>
                </a:lnTo>
                <a:lnTo>
                  <a:pt x="1081449" y="77207"/>
                </a:lnTo>
                <a:lnTo>
                  <a:pt x="1088707" y="70281"/>
                </a:lnTo>
                <a:lnTo>
                  <a:pt x="1095965" y="63335"/>
                </a:lnTo>
                <a:lnTo>
                  <a:pt x="1103223" y="56369"/>
                </a:lnTo>
                <a:lnTo>
                  <a:pt x="1110481" y="49384"/>
                </a:lnTo>
                <a:lnTo>
                  <a:pt x="1117739" y="42381"/>
                </a:lnTo>
                <a:lnTo>
                  <a:pt x="1124997" y="35359"/>
                </a:lnTo>
                <a:lnTo>
                  <a:pt x="1132255" y="28320"/>
                </a:lnTo>
                <a:lnTo>
                  <a:pt x="1139513" y="21264"/>
                </a:lnTo>
                <a:lnTo>
                  <a:pt x="1146771" y="14192"/>
                </a:lnTo>
                <a:lnTo>
                  <a:pt x="1154029" y="7103"/>
                </a:lnTo>
                <a:lnTo>
                  <a:pt x="1161287" y="0"/>
                </a:lnTo>
              </a:path>
            </a:pathLst>
          </a:custGeom>
          <a:noFill/>
          <a:ln w="21590">
            <a:solidFill>
              <a:srgbClr val="167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232"/>
          <p:cNvSpPr/>
          <p:nvPr/>
        </p:nvSpPr>
        <p:spPr>
          <a:xfrm>
            <a:off x="8892720" y="2781360"/>
            <a:ext cx="86400" cy="86400"/>
          </a:xfrm>
          <a:prstGeom prst="ellipse">
            <a:avLst/>
          </a:prstGeom>
          <a:solidFill>
            <a:srgbClr val="E34A3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Oval 233"/>
          <p:cNvSpPr/>
          <p:nvPr/>
        </p:nvSpPr>
        <p:spPr>
          <a:xfrm>
            <a:off x="9774720" y="2306520"/>
            <a:ext cx="86400" cy="86400"/>
          </a:xfrm>
          <a:prstGeom prst="ellipse">
            <a:avLst/>
          </a:prstGeom>
          <a:solidFill>
            <a:srgbClr val="1678C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1" name="Connector 234"/>
          <p:cNvSpPr/>
          <p:nvPr/>
        </p:nvSpPr>
        <p:spPr>
          <a:xfrm>
            <a:off x="8991000" y="2824560"/>
            <a:ext cx="155520" cy="360"/>
          </a:xfrm>
          <a:prstGeom prst="line">
            <a:avLst/>
          </a:prstGeom>
          <a:ln>
            <a:solidFill>
              <a:srgbClr val="17365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32" name="Connector 235"/>
          <p:cNvSpPr/>
          <p:nvPr/>
        </p:nvSpPr>
        <p:spPr>
          <a:xfrm flipH="1">
            <a:off x="9607680" y="2349720"/>
            <a:ext cx="155160" cy="360"/>
          </a:xfrm>
          <a:prstGeom prst="line">
            <a:avLst/>
          </a:prstGeom>
          <a:ln>
            <a:solidFill>
              <a:srgbClr val="17365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33" name="TextBox 236"/>
          <p:cNvSpPr/>
          <p:nvPr/>
        </p:nvSpPr>
        <p:spPr>
          <a:xfrm>
            <a:off x="9731520" y="2895120"/>
            <a:ext cx="269280" cy="153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lang="en-US" sz="1000" b="0" strike="noStrike" spc="-1">
                <a:solidFill>
                  <a:srgbClr val="17365D"/>
                </a:solidFill>
                <a:latin typeface="Times New Roman" panose="02020603050405020304"/>
              </a:rPr>
              <a:t>score</a:t>
            </a:r>
            <a:endParaRPr lang="en-US" sz="1000" b="0" strike="noStrike" spc="-1">
              <a:latin typeface="Arial" panose="020B0604020202020204"/>
            </a:endParaRPr>
          </a:p>
        </p:txBody>
      </p:sp>
      <p:sp>
        <p:nvSpPr>
          <p:cNvPr id="134" name="Rectangle 237"/>
          <p:cNvSpPr/>
          <p:nvPr/>
        </p:nvSpPr>
        <p:spPr>
          <a:xfrm>
            <a:off x="10679400" y="2148840"/>
            <a:ext cx="595800" cy="703800"/>
          </a:xfrm>
          <a:prstGeom prst="rect">
            <a:avLst/>
          </a:prstGeom>
          <a:solidFill>
            <a:srgbClr val="DCE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Connector 238"/>
          <p:cNvSpPr/>
          <p:nvPr/>
        </p:nvSpPr>
        <p:spPr>
          <a:xfrm>
            <a:off x="10396440" y="2852640"/>
            <a:ext cx="1207080" cy="360"/>
          </a:xfrm>
          <a:prstGeom prst="line">
            <a:avLst/>
          </a:prstGeom>
          <a:ln>
            <a:solidFill>
              <a:srgbClr val="22222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36" name="Connector 239"/>
          <p:cNvSpPr/>
          <p:nvPr/>
        </p:nvSpPr>
        <p:spPr>
          <a:xfrm flipV="1">
            <a:off x="10396440" y="2125800"/>
            <a:ext cx="360" cy="726840"/>
          </a:xfrm>
          <a:prstGeom prst="line">
            <a:avLst/>
          </a:prstGeom>
          <a:ln>
            <a:solidFill>
              <a:srgbClr val="22222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4" name="Freeform 3"/>
          <p:cNvSpPr/>
          <p:nvPr/>
        </p:nvSpPr>
        <p:spPr>
          <a:xfrm>
            <a:off x="10396728" y="2212848"/>
            <a:ext cx="1161287" cy="607165"/>
          </a:xfrm>
          <a:custGeom>
            <a:avLst/>
            <a:gdLst/>
            <a:ahLst/>
            <a:cxnLst/>
            <a:rect l="l" t="t" r="r" b="b"/>
            <a:pathLst>
              <a:path w="1161287" h="607165">
                <a:moveTo>
                  <a:pt x="0" y="607165"/>
                </a:moveTo>
                <a:lnTo>
                  <a:pt x="7258" y="606679"/>
                </a:lnTo>
                <a:lnTo>
                  <a:pt x="14516" y="606178"/>
                </a:lnTo>
                <a:lnTo>
                  <a:pt x="21774" y="605661"/>
                </a:lnTo>
                <a:lnTo>
                  <a:pt x="29032" y="605127"/>
                </a:lnTo>
                <a:lnTo>
                  <a:pt x="36290" y="604577"/>
                </a:lnTo>
                <a:lnTo>
                  <a:pt x="43548" y="604008"/>
                </a:lnTo>
                <a:lnTo>
                  <a:pt x="50806" y="603422"/>
                </a:lnTo>
                <a:lnTo>
                  <a:pt x="58064" y="602818"/>
                </a:lnTo>
                <a:lnTo>
                  <a:pt x="65322" y="602194"/>
                </a:lnTo>
                <a:lnTo>
                  <a:pt x="72580" y="601551"/>
                </a:lnTo>
                <a:lnTo>
                  <a:pt x="79838" y="600887"/>
                </a:lnTo>
                <a:lnTo>
                  <a:pt x="87096" y="600203"/>
                </a:lnTo>
                <a:lnTo>
                  <a:pt x="94354" y="599497"/>
                </a:lnTo>
                <a:lnTo>
                  <a:pt x="101612" y="598770"/>
                </a:lnTo>
                <a:lnTo>
                  <a:pt x="108870" y="598020"/>
                </a:lnTo>
                <a:lnTo>
                  <a:pt x="116128" y="597247"/>
                </a:lnTo>
                <a:lnTo>
                  <a:pt x="123386" y="596450"/>
                </a:lnTo>
                <a:lnTo>
                  <a:pt x="130644" y="595629"/>
                </a:lnTo>
                <a:lnTo>
                  <a:pt x="137902" y="594783"/>
                </a:lnTo>
                <a:lnTo>
                  <a:pt x="145160" y="593911"/>
                </a:lnTo>
                <a:lnTo>
                  <a:pt x="152419" y="593013"/>
                </a:lnTo>
                <a:lnTo>
                  <a:pt x="159677" y="592088"/>
                </a:lnTo>
                <a:lnTo>
                  <a:pt x="166935" y="591135"/>
                </a:lnTo>
                <a:lnTo>
                  <a:pt x="174193" y="590153"/>
                </a:lnTo>
                <a:lnTo>
                  <a:pt x="181451" y="589142"/>
                </a:lnTo>
                <a:lnTo>
                  <a:pt x="188709" y="588101"/>
                </a:lnTo>
                <a:lnTo>
                  <a:pt x="195967" y="587030"/>
                </a:lnTo>
                <a:lnTo>
                  <a:pt x="203225" y="585927"/>
                </a:lnTo>
                <a:lnTo>
                  <a:pt x="210483" y="584792"/>
                </a:lnTo>
                <a:lnTo>
                  <a:pt x="217741" y="583624"/>
                </a:lnTo>
                <a:lnTo>
                  <a:pt x="224999" y="582422"/>
                </a:lnTo>
                <a:lnTo>
                  <a:pt x="232257" y="581186"/>
                </a:lnTo>
                <a:lnTo>
                  <a:pt x="239515" y="579914"/>
                </a:lnTo>
                <a:lnTo>
                  <a:pt x="246773" y="578606"/>
                </a:lnTo>
                <a:lnTo>
                  <a:pt x="254031" y="577262"/>
                </a:lnTo>
                <a:lnTo>
                  <a:pt x="261289" y="575879"/>
                </a:lnTo>
                <a:lnTo>
                  <a:pt x="268547" y="574458"/>
                </a:lnTo>
                <a:lnTo>
                  <a:pt x="275805" y="572998"/>
                </a:lnTo>
                <a:lnTo>
                  <a:pt x="283063" y="571497"/>
                </a:lnTo>
                <a:lnTo>
                  <a:pt x="290322" y="569956"/>
                </a:lnTo>
                <a:lnTo>
                  <a:pt x="297580" y="568372"/>
                </a:lnTo>
                <a:lnTo>
                  <a:pt x="304838" y="566746"/>
                </a:lnTo>
                <a:lnTo>
                  <a:pt x="312096" y="565076"/>
                </a:lnTo>
                <a:lnTo>
                  <a:pt x="319354" y="563362"/>
                </a:lnTo>
                <a:lnTo>
                  <a:pt x="326612" y="561603"/>
                </a:lnTo>
                <a:lnTo>
                  <a:pt x="333870" y="559797"/>
                </a:lnTo>
                <a:lnTo>
                  <a:pt x="341128" y="557945"/>
                </a:lnTo>
                <a:lnTo>
                  <a:pt x="348386" y="556045"/>
                </a:lnTo>
                <a:lnTo>
                  <a:pt x="355644" y="554097"/>
                </a:lnTo>
                <a:lnTo>
                  <a:pt x="362902" y="552099"/>
                </a:lnTo>
                <a:lnTo>
                  <a:pt x="370160" y="550051"/>
                </a:lnTo>
                <a:lnTo>
                  <a:pt x="377418" y="547953"/>
                </a:lnTo>
                <a:lnTo>
                  <a:pt x="384676" y="545803"/>
                </a:lnTo>
                <a:lnTo>
                  <a:pt x="391934" y="543600"/>
                </a:lnTo>
                <a:lnTo>
                  <a:pt x="399192" y="541344"/>
                </a:lnTo>
                <a:lnTo>
                  <a:pt x="406450" y="539035"/>
                </a:lnTo>
                <a:lnTo>
                  <a:pt x="413708" y="536670"/>
                </a:lnTo>
                <a:lnTo>
                  <a:pt x="420966" y="534251"/>
                </a:lnTo>
                <a:lnTo>
                  <a:pt x="428224" y="531776"/>
                </a:lnTo>
                <a:lnTo>
                  <a:pt x="435483" y="529244"/>
                </a:lnTo>
                <a:lnTo>
                  <a:pt x="442741" y="526654"/>
                </a:lnTo>
                <a:lnTo>
                  <a:pt x="449999" y="524007"/>
                </a:lnTo>
                <a:lnTo>
                  <a:pt x="457257" y="521301"/>
                </a:lnTo>
                <a:lnTo>
                  <a:pt x="464515" y="518537"/>
                </a:lnTo>
                <a:lnTo>
                  <a:pt x="471773" y="515713"/>
                </a:lnTo>
                <a:lnTo>
                  <a:pt x="479031" y="512828"/>
                </a:lnTo>
                <a:lnTo>
                  <a:pt x="486289" y="509883"/>
                </a:lnTo>
                <a:lnTo>
                  <a:pt x="493547" y="506877"/>
                </a:lnTo>
                <a:lnTo>
                  <a:pt x="500805" y="503810"/>
                </a:lnTo>
                <a:lnTo>
                  <a:pt x="508063" y="500680"/>
                </a:lnTo>
                <a:lnTo>
                  <a:pt x="515321" y="497489"/>
                </a:lnTo>
                <a:lnTo>
                  <a:pt x="522579" y="494235"/>
                </a:lnTo>
                <a:lnTo>
                  <a:pt x="529837" y="490918"/>
                </a:lnTo>
                <a:lnTo>
                  <a:pt x="537095" y="487537"/>
                </a:lnTo>
                <a:lnTo>
                  <a:pt x="544353" y="484094"/>
                </a:lnTo>
                <a:lnTo>
                  <a:pt x="551611" y="480587"/>
                </a:lnTo>
                <a:lnTo>
                  <a:pt x="558869" y="477016"/>
                </a:lnTo>
                <a:lnTo>
                  <a:pt x="566127" y="473381"/>
                </a:lnTo>
                <a:lnTo>
                  <a:pt x="573385" y="469682"/>
                </a:lnTo>
                <a:lnTo>
                  <a:pt x="580644" y="465919"/>
                </a:lnTo>
                <a:lnTo>
                  <a:pt x="587902" y="462093"/>
                </a:lnTo>
                <a:lnTo>
                  <a:pt x="595160" y="458202"/>
                </a:lnTo>
                <a:lnTo>
                  <a:pt x="602418" y="454247"/>
                </a:lnTo>
                <a:lnTo>
                  <a:pt x="609676" y="450228"/>
                </a:lnTo>
                <a:lnTo>
                  <a:pt x="616934" y="446146"/>
                </a:lnTo>
                <a:lnTo>
                  <a:pt x="624192" y="442000"/>
                </a:lnTo>
                <a:lnTo>
                  <a:pt x="631450" y="437791"/>
                </a:lnTo>
                <a:lnTo>
                  <a:pt x="638708" y="433518"/>
                </a:lnTo>
                <a:lnTo>
                  <a:pt x="645966" y="429183"/>
                </a:lnTo>
                <a:lnTo>
                  <a:pt x="653224" y="424785"/>
                </a:lnTo>
                <a:lnTo>
                  <a:pt x="660482" y="420325"/>
                </a:lnTo>
                <a:lnTo>
                  <a:pt x="667740" y="415802"/>
                </a:lnTo>
                <a:lnTo>
                  <a:pt x="674998" y="411219"/>
                </a:lnTo>
                <a:lnTo>
                  <a:pt x="682256" y="406574"/>
                </a:lnTo>
                <a:lnTo>
                  <a:pt x="689514" y="401869"/>
                </a:lnTo>
                <a:lnTo>
                  <a:pt x="696772" y="397104"/>
                </a:lnTo>
                <a:lnTo>
                  <a:pt x="704030" y="392279"/>
                </a:lnTo>
                <a:lnTo>
                  <a:pt x="711288" y="387395"/>
                </a:lnTo>
                <a:lnTo>
                  <a:pt x="718546" y="382453"/>
                </a:lnTo>
                <a:lnTo>
                  <a:pt x="725804" y="377452"/>
                </a:lnTo>
                <a:lnTo>
                  <a:pt x="733063" y="372395"/>
                </a:lnTo>
                <a:lnTo>
                  <a:pt x="740321" y="367281"/>
                </a:lnTo>
                <a:lnTo>
                  <a:pt x="747579" y="362110"/>
                </a:lnTo>
                <a:lnTo>
                  <a:pt x="754837" y="356885"/>
                </a:lnTo>
                <a:lnTo>
                  <a:pt x="762095" y="351605"/>
                </a:lnTo>
                <a:lnTo>
                  <a:pt x="769353" y="346271"/>
                </a:lnTo>
                <a:lnTo>
                  <a:pt x="776611" y="340884"/>
                </a:lnTo>
                <a:lnTo>
                  <a:pt x="783869" y="335445"/>
                </a:lnTo>
                <a:lnTo>
                  <a:pt x="791127" y="329954"/>
                </a:lnTo>
                <a:lnTo>
                  <a:pt x="798385" y="324412"/>
                </a:lnTo>
                <a:lnTo>
                  <a:pt x="805643" y="318820"/>
                </a:lnTo>
                <a:lnTo>
                  <a:pt x="812901" y="313179"/>
                </a:lnTo>
                <a:lnTo>
                  <a:pt x="820159" y="307489"/>
                </a:lnTo>
                <a:lnTo>
                  <a:pt x="827417" y="301752"/>
                </a:lnTo>
                <a:lnTo>
                  <a:pt x="834675" y="295968"/>
                </a:lnTo>
                <a:lnTo>
                  <a:pt x="841933" y="290138"/>
                </a:lnTo>
                <a:lnTo>
                  <a:pt x="849191" y="284262"/>
                </a:lnTo>
                <a:lnTo>
                  <a:pt x="856449" y="278342"/>
                </a:lnTo>
                <a:lnTo>
                  <a:pt x="863707" y="272379"/>
                </a:lnTo>
                <a:lnTo>
                  <a:pt x="870966" y="266373"/>
                </a:lnTo>
                <a:lnTo>
                  <a:pt x="878224" y="260325"/>
                </a:lnTo>
                <a:lnTo>
                  <a:pt x="885482" y="254236"/>
                </a:lnTo>
                <a:lnTo>
                  <a:pt x="892740" y="248107"/>
                </a:lnTo>
                <a:lnTo>
                  <a:pt x="899998" y="241938"/>
                </a:lnTo>
                <a:lnTo>
                  <a:pt x="907256" y="235731"/>
                </a:lnTo>
                <a:lnTo>
                  <a:pt x="914514" y="229486"/>
                </a:lnTo>
                <a:lnTo>
                  <a:pt x="921772" y="223205"/>
                </a:lnTo>
                <a:lnTo>
                  <a:pt x="929030" y="216887"/>
                </a:lnTo>
                <a:lnTo>
                  <a:pt x="936288" y="210533"/>
                </a:lnTo>
                <a:lnTo>
                  <a:pt x="943546" y="204146"/>
                </a:lnTo>
                <a:lnTo>
                  <a:pt x="950804" y="197724"/>
                </a:lnTo>
                <a:lnTo>
                  <a:pt x="958062" y="191270"/>
                </a:lnTo>
                <a:lnTo>
                  <a:pt x="965320" y="184783"/>
                </a:lnTo>
                <a:lnTo>
                  <a:pt x="972578" y="178265"/>
                </a:lnTo>
                <a:lnTo>
                  <a:pt x="979836" y="171716"/>
                </a:lnTo>
                <a:lnTo>
                  <a:pt x="987094" y="165137"/>
                </a:lnTo>
                <a:lnTo>
                  <a:pt x="994352" y="158529"/>
                </a:lnTo>
                <a:lnTo>
                  <a:pt x="1001610" y="151893"/>
                </a:lnTo>
                <a:lnTo>
                  <a:pt x="1008868" y="145229"/>
                </a:lnTo>
                <a:lnTo>
                  <a:pt x="1016127" y="138537"/>
                </a:lnTo>
                <a:lnTo>
                  <a:pt x="1023385" y="131820"/>
                </a:lnTo>
                <a:lnTo>
                  <a:pt x="1030643" y="125076"/>
                </a:lnTo>
                <a:lnTo>
                  <a:pt x="1037901" y="118308"/>
                </a:lnTo>
                <a:lnTo>
                  <a:pt x="1045159" y="111515"/>
                </a:lnTo>
                <a:lnTo>
                  <a:pt x="1052417" y="104698"/>
                </a:lnTo>
                <a:lnTo>
                  <a:pt x="1059675" y="97859"/>
                </a:lnTo>
                <a:lnTo>
                  <a:pt x="1066933" y="90997"/>
                </a:lnTo>
                <a:lnTo>
                  <a:pt x="1074191" y="84112"/>
                </a:lnTo>
                <a:lnTo>
                  <a:pt x="1081449" y="77207"/>
                </a:lnTo>
                <a:lnTo>
                  <a:pt x="1088707" y="70281"/>
                </a:lnTo>
                <a:lnTo>
                  <a:pt x="1095965" y="63335"/>
                </a:lnTo>
                <a:lnTo>
                  <a:pt x="1103223" y="56369"/>
                </a:lnTo>
                <a:lnTo>
                  <a:pt x="1110481" y="49384"/>
                </a:lnTo>
                <a:lnTo>
                  <a:pt x="1117739" y="42381"/>
                </a:lnTo>
                <a:lnTo>
                  <a:pt x="1124997" y="35359"/>
                </a:lnTo>
                <a:lnTo>
                  <a:pt x="1132255" y="28320"/>
                </a:lnTo>
                <a:lnTo>
                  <a:pt x="1139513" y="21264"/>
                </a:lnTo>
                <a:lnTo>
                  <a:pt x="1146771" y="14192"/>
                </a:lnTo>
                <a:lnTo>
                  <a:pt x="1154029" y="7103"/>
                </a:lnTo>
                <a:lnTo>
                  <a:pt x="1161287" y="0"/>
                </a:lnTo>
              </a:path>
            </a:pathLst>
          </a:custGeom>
          <a:noFill/>
          <a:ln w="21590">
            <a:solidFill>
              <a:srgbClr val="167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240"/>
          <p:cNvSpPr/>
          <p:nvPr/>
        </p:nvSpPr>
        <p:spPr>
          <a:xfrm>
            <a:off x="10858680" y="2685960"/>
            <a:ext cx="86400" cy="86400"/>
          </a:xfrm>
          <a:prstGeom prst="ellipse">
            <a:avLst/>
          </a:prstGeom>
          <a:solidFill>
            <a:srgbClr val="E34A3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9" name="Oval 241"/>
          <p:cNvSpPr/>
          <p:nvPr/>
        </p:nvSpPr>
        <p:spPr>
          <a:xfrm>
            <a:off x="10973160" y="2640960"/>
            <a:ext cx="86400" cy="86400"/>
          </a:xfrm>
          <a:prstGeom prst="ellipse">
            <a:avLst/>
          </a:prstGeom>
          <a:solidFill>
            <a:srgbClr val="1678C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0" name="Connector 242"/>
          <p:cNvSpPr/>
          <p:nvPr/>
        </p:nvSpPr>
        <p:spPr>
          <a:xfrm flipH="1">
            <a:off x="10691640" y="2729160"/>
            <a:ext cx="155520" cy="360"/>
          </a:xfrm>
          <a:prstGeom prst="line">
            <a:avLst/>
          </a:prstGeom>
          <a:ln>
            <a:solidFill>
              <a:srgbClr val="17365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41" name="Connector 243"/>
          <p:cNvSpPr/>
          <p:nvPr/>
        </p:nvSpPr>
        <p:spPr>
          <a:xfrm>
            <a:off x="11071440" y="2684160"/>
            <a:ext cx="155160" cy="360"/>
          </a:xfrm>
          <a:prstGeom prst="line">
            <a:avLst/>
          </a:prstGeom>
          <a:ln>
            <a:solidFill>
              <a:srgbClr val="17365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42" name="TextBox 244"/>
          <p:cNvSpPr/>
          <p:nvPr/>
        </p:nvSpPr>
        <p:spPr>
          <a:xfrm>
            <a:off x="11331720" y="2895120"/>
            <a:ext cx="269280" cy="153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lang="en-US" sz="1000" b="0" strike="noStrike" spc="-1">
                <a:solidFill>
                  <a:srgbClr val="17365D"/>
                </a:solidFill>
                <a:latin typeface="Times New Roman" panose="02020603050405020304"/>
              </a:rPr>
              <a:t>score</a:t>
            </a:r>
            <a:endParaRPr lang="en-US" sz="1000" b="0" strike="noStrike" spc="-1">
              <a:latin typeface="Arial" panose="020B0604020202020204"/>
            </a:endParaRPr>
          </a:p>
        </p:txBody>
      </p:sp>
      <p:sp>
        <p:nvSpPr>
          <p:cNvPr id="143" name="Connector 245"/>
          <p:cNvSpPr/>
          <p:nvPr/>
        </p:nvSpPr>
        <p:spPr>
          <a:xfrm>
            <a:off x="9408960" y="3136320"/>
            <a:ext cx="530280" cy="329040"/>
          </a:xfrm>
          <a:prstGeom prst="line">
            <a:avLst/>
          </a:prstGeom>
          <a:ln>
            <a:solidFill>
              <a:srgbClr val="22222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44" name="Connector 246"/>
          <p:cNvSpPr/>
          <p:nvPr/>
        </p:nvSpPr>
        <p:spPr>
          <a:xfrm flipH="1">
            <a:off x="10451520" y="3136320"/>
            <a:ext cx="521280" cy="329040"/>
          </a:xfrm>
          <a:prstGeom prst="line">
            <a:avLst/>
          </a:prstGeom>
          <a:ln>
            <a:solidFill>
              <a:srgbClr val="22222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45" name="TextBox 247"/>
          <p:cNvSpPr/>
          <p:nvPr/>
        </p:nvSpPr>
        <p:spPr>
          <a:xfrm>
            <a:off x="9585720" y="3490920"/>
            <a:ext cx="1246320" cy="213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17365D"/>
                </a:solidFill>
                <a:latin typeface="Times New Roman" panose="02020603050405020304"/>
              </a:rPr>
              <a:t>after calibration</a:t>
            </a:r>
            <a:endParaRPr lang="en-US" sz="1400" b="0" strike="noStrike" spc="-1">
              <a:latin typeface="Arial" panose="020B0604020202020204"/>
            </a:endParaRPr>
          </a:p>
        </p:txBody>
      </p:sp>
      <p:sp>
        <p:nvSpPr>
          <p:cNvPr id="146" name="Rectangle 248"/>
          <p:cNvSpPr/>
          <p:nvPr/>
        </p:nvSpPr>
        <p:spPr>
          <a:xfrm>
            <a:off x="9947735" y="3813120"/>
            <a:ext cx="591120" cy="667080"/>
          </a:xfrm>
          <a:prstGeom prst="rect">
            <a:avLst/>
          </a:prstGeom>
          <a:solidFill>
            <a:srgbClr val="DCE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7" name="Connector 249"/>
          <p:cNvSpPr/>
          <p:nvPr/>
        </p:nvSpPr>
        <p:spPr>
          <a:xfrm>
            <a:off x="9667295" y="4480560"/>
            <a:ext cx="1197720" cy="360"/>
          </a:xfrm>
          <a:prstGeom prst="line">
            <a:avLst/>
          </a:prstGeom>
          <a:ln>
            <a:solidFill>
              <a:srgbClr val="22222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48" name="Connector 250"/>
          <p:cNvSpPr/>
          <p:nvPr/>
        </p:nvSpPr>
        <p:spPr>
          <a:xfrm flipV="1">
            <a:off x="9667295" y="3790080"/>
            <a:ext cx="360" cy="690480"/>
          </a:xfrm>
          <a:prstGeom prst="line">
            <a:avLst/>
          </a:prstGeom>
          <a:ln>
            <a:solidFill>
              <a:srgbClr val="22222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5" name="Freeform 4"/>
          <p:cNvSpPr/>
          <p:nvPr/>
        </p:nvSpPr>
        <p:spPr>
          <a:xfrm>
            <a:off x="9665208" y="3877056"/>
            <a:ext cx="1152144" cy="580378"/>
          </a:xfrm>
          <a:custGeom>
            <a:avLst/>
            <a:gdLst/>
            <a:ahLst/>
            <a:cxnLst/>
            <a:rect l="l" t="t" r="r" b="b"/>
            <a:pathLst>
              <a:path w="1152144" h="580378">
                <a:moveTo>
                  <a:pt x="0" y="580378"/>
                </a:moveTo>
                <a:lnTo>
                  <a:pt x="7200" y="579914"/>
                </a:lnTo>
                <a:lnTo>
                  <a:pt x="14401" y="579435"/>
                </a:lnTo>
                <a:lnTo>
                  <a:pt x="21602" y="578941"/>
                </a:lnTo>
                <a:lnTo>
                  <a:pt x="28803" y="578430"/>
                </a:lnTo>
                <a:lnTo>
                  <a:pt x="36004" y="577904"/>
                </a:lnTo>
                <a:lnTo>
                  <a:pt x="43205" y="577361"/>
                </a:lnTo>
                <a:lnTo>
                  <a:pt x="50406" y="576801"/>
                </a:lnTo>
                <a:lnTo>
                  <a:pt x="57607" y="576223"/>
                </a:lnTo>
                <a:lnTo>
                  <a:pt x="64808" y="575626"/>
                </a:lnTo>
                <a:lnTo>
                  <a:pt x="72009" y="575012"/>
                </a:lnTo>
                <a:lnTo>
                  <a:pt x="79209" y="574377"/>
                </a:lnTo>
                <a:lnTo>
                  <a:pt x="86410" y="573723"/>
                </a:lnTo>
                <a:lnTo>
                  <a:pt x="93611" y="573049"/>
                </a:lnTo>
                <a:lnTo>
                  <a:pt x="100812" y="572354"/>
                </a:lnTo>
                <a:lnTo>
                  <a:pt x="108013" y="571637"/>
                </a:lnTo>
                <a:lnTo>
                  <a:pt x="115214" y="570898"/>
                </a:lnTo>
                <a:lnTo>
                  <a:pt x="122415" y="570136"/>
                </a:lnTo>
                <a:lnTo>
                  <a:pt x="129616" y="569352"/>
                </a:lnTo>
                <a:lnTo>
                  <a:pt x="136817" y="568543"/>
                </a:lnTo>
                <a:lnTo>
                  <a:pt x="144018" y="567709"/>
                </a:lnTo>
                <a:lnTo>
                  <a:pt x="151218" y="566851"/>
                </a:lnTo>
                <a:lnTo>
                  <a:pt x="158419" y="565966"/>
                </a:lnTo>
                <a:lnTo>
                  <a:pt x="165620" y="565055"/>
                </a:lnTo>
                <a:lnTo>
                  <a:pt x="172821" y="564117"/>
                </a:lnTo>
                <a:lnTo>
                  <a:pt x="180022" y="563151"/>
                </a:lnTo>
                <a:lnTo>
                  <a:pt x="187223" y="562156"/>
                </a:lnTo>
                <a:lnTo>
                  <a:pt x="194424" y="561132"/>
                </a:lnTo>
                <a:lnTo>
                  <a:pt x="201625" y="560077"/>
                </a:lnTo>
                <a:lnTo>
                  <a:pt x="208826" y="558992"/>
                </a:lnTo>
                <a:lnTo>
                  <a:pt x="216027" y="557876"/>
                </a:lnTo>
                <a:lnTo>
                  <a:pt x="223227" y="556727"/>
                </a:lnTo>
                <a:lnTo>
                  <a:pt x="230428" y="555545"/>
                </a:lnTo>
                <a:lnTo>
                  <a:pt x="237629" y="554330"/>
                </a:lnTo>
                <a:lnTo>
                  <a:pt x="244830" y="553080"/>
                </a:lnTo>
                <a:lnTo>
                  <a:pt x="252031" y="551794"/>
                </a:lnTo>
                <a:lnTo>
                  <a:pt x="259232" y="550473"/>
                </a:lnTo>
                <a:lnTo>
                  <a:pt x="266433" y="549115"/>
                </a:lnTo>
                <a:lnTo>
                  <a:pt x="273634" y="547719"/>
                </a:lnTo>
                <a:lnTo>
                  <a:pt x="280835" y="546284"/>
                </a:lnTo>
                <a:lnTo>
                  <a:pt x="288036" y="544811"/>
                </a:lnTo>
                <a:lnTo>
                  <a:pt x="295236" y="543297"/>
                </a:lnTo>
                <a:lnTo>
                  <a:pt x="302437" y="541742"/>
                </a:lnTo>
                <a:lnTo>
                  <a:pt x="309638" y="540146"/>
                </a:lnTo>
                <a:lnTo>
                  <a:pt x="316839" y="538508"/>
                </a:lnTo>
                <a:lnTo>
                  <a:pt x="324040" y="536826"/>
                </a:lnTo>
                <a:lnTo>
                  <a:pt x="331241" y="535100"/>
                </a:lnTo>
                <a:lnTo>
                  <a:pt x="338442" y="533330"/>
                </a:lnTo>
                <a:lnTo>
                  <a:pt x="345643" y="531514"/>
                </a:lnTo>
                <a:lnTo>
                  <a:pt x="352844" y="529651"/>
                </a:lnTo>
                <a:lnTo>
                  <a:pt x="360045" y="527742"/>
                </a:lnTo>
                <a:lnTo>
                  <a:pt x="367245" y="525784"/>
                </a:lnTo>
                <a:lnTo>
                  <a:pt x="374446" y="523778"/>
                </a:lnTo>
                <a:lnTo>
                  <a:pt x="381647" y="521723"/>
                </a:lnTo>
                <a:lnTo>
                  <a:pt x="388848" y="519618"/>
                </a:lnTo>
                <a:lnTo>
                  <a:pt x="396049" y="517461"/>
                </a:lnTo>
                <a:lnTo>
                  <a:pt x="403250" y="515254"/>
                </a:lnTo>
                <a:lnTo>
                  <a:pt x="410451" y="512994"/>
                </a:lnTo>
                <a:lnTo>
                  <a:pt x="417652" y="510681"/>
                </a:lnTo>
                <a:lnTo>
                  <a:pt x="424853" y="508315"/>
                </a:lnTo>
                <a:lnTo>
                  <a:pt x="432054" y="505895"/>
                </a:lnTo>
                <a:lnTo>
                  <a:pt x="439254" y="503420"/>
                </a:lnTo>
                <a:lnTo>
                  <a:pt x="446455" y="500889"/>
                </a:lnTo>
                <a:lnTo>
                  <a:pt x="453656" y="498303"/>
                </a:lnTo>
                <a:lnTo>
                  <a:pt x="460857" y="495660"/>
                </a:lnTo>
                <a:lnTo>
                  <a:pt x="468058" y="492960"/>
                </a:lnTo>
                <a:lnTo>
                  <a:pt x="475259" y="490203"/>
                </a:lnTo>
                <a:lnTo>
                  <a:pt x="482460" y="487388"/>
                </a:lnTo>
                <a:lnTo>
                  <a:pt x="489661" y="484515"/>
                </a:lnTo>
                <a:lnTo>
                  <a:pt x="496862" y="481583"/>
                </a:lnTo>
                <a:lnTo>
                  <a:pt x="504063" y="478592"/>
                </a:lnTo>
                <a:lnTo>
                  <a:pt x="511263" y="475541"/>
                </a:lnTo>
                <a:lnTo>
                  <a:pt x="518464" y="472430"/>
                </a:lnTo>
                <a:lnTo>
                  <a:pt x="525665" y="469259"/>
                </a:lnTo>
                <a:lnTo>
                  <a:pt x="532866" y="466028"/>
                </a:lnTo>
                <a:lnTo>
                  <a:pt x="540067" y="462737"/>
                </a:lnTo>
                <a:lnTo>
                  <a:pt x="547268" y="459384"/>
                </a:lnTo>
                <a:lnTo>
                  <a:pt x="554469" y="455971"/>
                </a:lnTo>
                <a:lnTo>
                  <a:pt x="561670" y="452496"/>
                </a:lnTo>
                <a:lnTo>
                  <a:pt x="568871" y="448961"/>
                </a:lnTo>
                <a:lnTo>
                  <a:pt x="576072" y="445364"/>
                </a:lnTo>
                <a:lnTo>
                  <a:pt x="583272" y="441706"/>
                </a:lnTo>
                <a:lnTo>
                  <a:pt x="590473" y="437987"/>
                </a:lnTo>
                <a:lnTo>
                  <a:pt x="597674" y="434207"/>
                </a:lnTo>
                <a:lnTo>
                  <a:pt x="604875" y="430365"/>
                </a:lnTo>
                <a:lnTo>
                  <a:pt x="612076" y="426463"/>
                </a:lnTo>
                <a:lnTo>
                  <a:pt x="619277" y="422500"/>
                </a:lnTo>
                <a:lnTo>
                  <a:pt x="626478" y="418476"/>
                </a:lnTo>
                <a:lnTo>
                  <a:pt x="633679" y="414392"/>
                </a:lnTo>
                <a:lnTo>
                  <a:pt x="640880" y="410248"/>
                </a:lnTo>
                <a:lnTo>
                  <a:pt x="648081" y="406044"/>
                </a:lnTo>
                <a:lnTo>
                  <a:pt x="655281" y="401781"/>
                </a:lnTo>
                <a:lnTo>
                  <a:pt x="662482" y="397458"/>
                </a:lnTo>
                <a:lnTo>
                  <a:pt x="669683" y="393077"/>
                </a:lnTo>
                <a:lnTo>
                  <a:pt x="676884" y="388637"/>
                </a:lnTo>
                <a:lnTo>
                  <a:pt x="684085" y="384140"/>
                </a:lnTo>
                <a:lnTo>
                  <a:pt x="691286" y="379584"/>
                </a:lnTo>
                <a:lnTo>
                  <a:pt x="698487" y="374972"/>
                </a:lnTo>
                <a:lnTo>
                  <a:pt x="705688" y="370304"/>
                </a:lnTo>
                <a:lnTo>
                  <a:pt x="712889" y="365580"/>
                </a:lnTo>
                <a:lnTo>
                  <a:pt x="720090" y="360800"/>
                </a:lnTo>
                <a:lnTo>
                  <a:pt x="727290" y="355966"/>
                </a:lnTo>
                <a:lnTo>
                  <a:pt x="734491" y="351077"/>
                </a:lnTo>
                <a:lnTo>
                  <a:pt x="741692" y="346135"/>
                </a:lnTo>
                <a:lnTo>
                  <a:pt x="748893" y="341140"/>
                </a:lnTo>
                <a:lnTo>
                  <a:pt x="756094" y="336093"/>
                </a:lnTo>
                <a:lnTo>
                  <a:pt x="763295" y="330995"/>
                </a:lnTo>
                <a:lnTo>
                  <a:pt x="770496" y="325845"/>
                </a:lnTo>
                <a:lnTo>
                  <a:pt x="777697" y="320646"/>
                </a:lnTo>
                <a:lnTo>
                  <a:pt x="784898" y="315397"/>
                </a:lnTo>
                <a:lnTo>
                  <a:pt x="792099" y="310100"/>
                </a:lnTo>
                <a:lnTo>
                  <a:pt x="799299" y="304754"/>
                </a:lnTo>
                <a:lnTo>
                  <a:pt x="806500" y="299362"/>
                </a:lnTo>
                <a:lnTo>
                  <a:pt x="813701" y="293924"/>
                </a:lnTo>
                <a:lnTo>
                  <a:pt x="820902" y="288439"/>
                </a:lnTo>
                <a:lnTo>
                  <a:pt x="828103" y="282910"/>
                </a:lnTo>
                <a:lnTo>
                  <a:pt x="835304" y="277337"/>
                </a:lnTo>
                <a:lnTo>
                  <a:pt x="842505" y="271721"/>
                </a:lnTo>
                <a:lnTo>
                  <a:pt x="849706" y="266063"/>
                </a:lnTo>
                <a:lnTo>
                  <a:pt x="856907" y="260362"/>
                </a:lnTo>
                <a:lnTo>
                  <a:pt x="864108" y="254621"/>
                </a:lnTo>
                <a:lnTo>
                  <a:pt x="871308" y="248840"/>
                </a:lnTo>
                <a:lnTo>
                  <a:pt x="878509" y="243020"/>
                </a:lnTo>
                <a:lnTo>
                  <a:pt x="885710" y="237161"/>
                </a:lnTo>
                <a:lnTo>
                  <a:pt x="892911" y="231265"/>
                </a:lnTo>
                <a:lnTo>
                  <a:pt x="900112" y="225331"/>
                </a:lnTo>
                <a:lnTo>
                  <a:pt x="907313" y="219362"/>
                </a:lnTo>
                <a:lnTo>
                  <a:pt x="914514" y="213357"/>
                </a:lnTo>
                <a:lnTo>
                  <a:pt x="921715" y="207318"/>
                </a:lnTo>
                <a:lnTo>
                  <a:pt x="928916" y="201245"/>
                </a:lnTo>
                <a:lnTo>
                  <a:pt x="936117" y="195139"/>
                </a:lnTo>
                <a:lnTo>
                  <a:pt x="943317" y="189001"/>
                </a:lnTo>
                <a:lnTo>
                  <a:pt x="950518" y="182831"/>
                </a:lnTo>
                <a:lnTo>
                  <a:pt x="957719" y="176631"/>
                </a:lnTo>
                <a:lnTo>
                  <a:pt x="964920" y="170400"/>
                </a:lnTo>
                <a:lnTo>
                  <a:pt x="972121" y="164140"/>
                </a:lnTo>
                <a:lnTo>
                  <a:pt x="979322" y="157852"/>
                </a:lnTo>
                <a:lnTo>
                  <a:pt x="986523" y="151535"/>
                </a:lnTo>
                <a:lnTo>
                  <a:pt x="993724" y="145192"/>
                </a:lnTo>
                <a:lnTo>
                  <a:pt x="1000925" y="138821"/>
                </a:lnTo>
                <a:lnTo>
                  <a:pt x="1008126" y="132425"/>
                </a:lnTo>
                <a:lnTo>
                  <a:pt x="1015326" y="126004"/>
                </a:lnTo>
                <a:lnTo>
                  <a:pt x="1022527" y="119558"/>
                </a:lnTo>
                <a:lnTo>
                  <a:pt x="1029728" y="113088"/>
                </a:lnTo>
                <a:lnTo>
                  <a:pt x="1036929" y="106595"/>
                </a:lnTo>
                <a:lnTo>
                  <a:pt x="1044130" y="100079"/>
                </a:lnTo>
                <a:lnTo>
                  <a:pt x="1051331" y="93541"/>
                </a:lnTo>
                <a:lnTo>
                  <a:pt x="1058532" y="86982"/>
                </a:lnTo>
                <a:lnTo>
                  <a:pt x="1065733" y="80402"/>
                </a:lnTo>
                <a:lnTo>
                  <a:pt x="1072934" y="73801"/>
                </a:lnTo>
                <a:lnTo>
                  <a:pt x="1080135" y="67180"/>
                </a:lnTo>
                <a:lnTo>
                  <a:pt x="1087335" y="60541"/>
                </a:lnTo>
                <a:lnTo>
                  <a:pt x="1094536" y="53882"/>
                </a:lnTo>
                <a:lnTo>
                  <a:pt x="1101737" y="47205"/>
                </a:lnTo>
                <a:lnTo>
                  <a:pt x="1108938" y="40511"/>
                </a:lnTo>
                <a:lnTo>
                  <a:pt x="1116139" y="33799"/>
                </a:lnTo>
                <a:lnTo>
                  <a:pt x="1123340" y="27071"/>
                </a:lnTo>
                <a:lnTo>
                  <a:pt x="1130541" y="20326"/>
                </a:lnTo>
                <a:lnTo>
                  <a:pt x="1137742" y="13566"/>
                </a:lnTo>
                <a:lnTo>
                  <a:pt x="1144943" y="6790"/>
                </a:lnTo>
                <a:lnTo>
                  <a:pt x="1152144" y="0"/>
                </a:lnTo>
              </a:path>
            </a:pathLst>
          </a:custGeom>
          <a:noFill/>
          <a:ln w="21590">
            <a:solidFill>
              <a:srgbClr val="167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251"/>
          <p:cNvSpPr/>
          <p:nvPr/>
        </p:nvSpPr>
        <p:spPr>
          <a:xfrm>
            <a:off x="10048175" y="4352040"/>
            <a:ext cx="86400" cy="86400"/>
          </a:xfrm>
          <a:prstGeom prst="ellipse">
            <a:avLst/>
          </a:prstGeom>
          <a:solidFill>
            <a:srgbClr val="E34A3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1" name="Oval 252"/>
          <p:cNvSpPr/>
          <p:nvPr/>
        </p:nvSpPr>
        <p:spPr>
          <a:xfrm>
            <a:off x="10351655" y="4191480"/>
            <a:ext cx="86400" cy="86400"/>
          </a:xfrm>
          <a:prstGeom prst="ellipse">
            <a:avLst/>
          </a:prstGeom>
          <a:solidFill>
            <a:srgbClr val="1678C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2" name="TextBox 253"/>
          <p:cNvSpPr/>
          <p:nvPr/>
        </p:nvSpPr>
        <p:spPr>
          <a:xfrm>
            <a:off x="10593215" y="4522680"/>
            <a:ext cx="269280" cy="153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0" tIns="0" r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lang="en-US" sz="1000" b="0" strike="noStrike" spc="-1">
                <a:solidFill>
                  <a:srgbClr val="17365D"/>
                </a:solidFill>
                <a:latin typeface="Times New Roman" panose="02020603050405020304"/>
              </a:rPr>
              <a:t>score</a:t>
            </a:r>
            <a:endParaRPr lang="en-US" sz="1000" b="0" strike="noStrike" spc="-1">
              <a:latin typeface="Arial" panose="020B0604020202020204"/>
            </a:endParaRPr>
          </a:p>
        </p:txBody>
      </p:sp>
      <p:sp>
        <p:nvSpPr>
          <p:cNvPr id="153" name="Connector 254"/>
          <p:cNvSpPr/>
          <p:nvPr/>
        </p:nvSpPr>
        <p:spPr>
          <a:xfrm>
            <a:off x="10670760" y="5120640"/>
            <a:ext cx="360" cy="164520"/>
          </a:xfrm>
          <a:prstGeom prst="line">
            <a:avLst/>
          </a:prstGeom>
          <a:ln w="19050">
            <a:solidFill>
              <a:srgbClr val="1678C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" name="Shape 220"/>
          <p:cNvSpPr/>
          <p:nvPr/>
        </p:nvSpPr>
        <p:spPr>
          <a:xfrm>
            <a:off x="10679650" y="5687915"/>
            <a:ext cx="360" cy="119160"/>
          </a:xfrm>
          <a:prstGeom prst="line">
            <a:avLst/>
          </a:prstGeom>
          <a:ln w="30480">
            <a:solidFill>
              <a:srgbClr val="0B73E0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374</Words>
  <Application>WPS 演示</Application>
  <PresentationFormat/>
  <Paragraphs>67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Arial</vt:lpstr>
      <vt:lpstr>Times New Roman</vt:lpstr>
      <vt:lpstr>微软雅黑</vt:lpstr>
      <vt:lpstr>Arial Unicode MS</vt:lpstr>
      <vt:lpstr>DejaVu Sans</vt:lpstr>
      <vt:lpstr>Calibri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OpenAI</dc:creator>
  <dc:subject>PptxGenJS Presentation</dc:subject>
  <cp:lastModifiedBy>stayreal</cp:lastModifiedBy>
  <cp:revision>29</cp:revision>
  <dcterms:created xsi:type="dcterms:W3CDTF">2026-09-11T08:15:00Z</dcterms:created>
  <dcterms:modified xsi:type="dcterms:W3CDTF">2026-09-12T02:54:31Z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(16:9)</vt:lpwstr>
  </property>
  <property fmtid="{D5CDD505-2E9C-101B-9397-08002B2CF9AE}" pid="4" name="Slides">
    <vt:i4>1</vt:i4>
  </property>
  <property fmtid="{D5CDD505-2E9C-101B-9397-08002B2CF9AE}" pid="5" name="ICV">
    <vt:lpwstr>5F8852E70D76496AAE51CD72C88AD3E1_12</vt:lpwstr>
  </property>
  <property fmtid="{D5CDD505-2E9C-101B-9397-08002B2CF9AE}" pid="6" name="KSOProductBuildVer">
    <vt:lpwstr>2052-12.1.0.20784</vt:lpwstr>
  </property>
</Properties>
</file>